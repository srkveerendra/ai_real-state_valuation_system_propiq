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8" r:id="rId4"/>
    <p:sldId id="265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9" r:id="rId13"/>
    <p:sldId id="266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4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6100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5D909-17CE-BDFA-9A3B-401E9992A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713C11-A291-64F1-BD4A-CD4FE568B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526E1C-5E9B-3D10-A409-F95C8AF66B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F1541B-4AA3-8C09-7539-8887144030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875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2286000" cy="22860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45720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91440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Real Estate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31520" y="169164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System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731520" y="2542032"/>
            <a:ext cx="50292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26517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LightGBM, XGBoost, CatBoost &amp; Ensemble ML Pipeline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31520" y="3246120"/>
            <a:ext cx="1828800" cy="347472"/>
          </a:xfrm>
          <a:prstGeom prst="rect">
            <a:avLst/>
          </a:prstGeom>
          <a:solidFill>
            <a:srgbClr val="0A3D5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32461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</a:rPr>
              <a:t>8 Datasets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43200" y="3246120"/>
            <a:ext cx="1828800" cy="347472"/>
          </a:xfrm>
          <a:prstGeom prst="rect">
            <a:avLst/>
          </a:prstGeom>
          <a:solidFill>
            <a:srgbClr val="0A3D5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0" y="32461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</a:rPr>
              <a:t>41 Features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0" y="3246120"/>
            <a:ext cx="1828800" cy="347472"/>
          </a:xfrm>
          <a:prstGeom prst="rect">
            <a:avLst/>
          </a:prstGeom>
          <a:solidFill>
            <a:srgbClr val="0A3D5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0" y="32461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</a:rPr>
              <a:t>89.25% Accuracy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766560" y="3246120"/>
            <a:ext cx="1828800" cy="347472"/>
          </a:xfrm>
          <a:prstGeom prst="rect">
            <a:avLst/>
          </a:prstGeom>
          <a:solidFill>
            <a:srgbClr val="0A3D5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66560" y="32461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</a:rPr>
              <a:t>Streamlit UI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31520" y="4480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India + Global Market Intelligence  |  VS Code Project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31520" y="3700000"/>
            <a:ext cx="6858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</a:rPr>
              <a:t>Introduction: PropIQ is a production-grade ML platform that predicts real estate prices with 89.25% accuracy using 8 multi-source datasets and 41 engineered features — enabling faster deal closings and risk-adjusted portfolio management.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31520" y="4100000"/>
            <a:ext cx="6858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</a:rPr>
              <a:t>Done by: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Veerendra Somineni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</a:rPr>
              <a:t>  |  AI/ML Project —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74320" y="1143000"/>
            <a:ext cx="3840480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143000"/>
            <a:ext cx="64008" cy="1463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1887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15544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house prices is complex — influenced by location, size, number of rooms, and economic conditions. Traditional methods fail to estimate prices accurately.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9120" y="1143000"/>
            <a:ext cx="4480560" cy="1463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89120" y="1143000"/>
            <a:ext cx="64008" cy="1463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0" y="11887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0" y="15544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supervised ML system trained on 8 datasets — India property data, King County housing, and global price indices — to predict house prices with 88%+ accuracy.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74320" y="2834640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960120" y="2907792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944368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0040" y="35387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</a:rPr>
              <a:t>Data Collection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20040" y="38404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8 datasets merged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into one pipeline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2468880" y="2834640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154680" y="2907792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2944368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514600" y="35387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</a:rPr>
              <a:t>ML Modeling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2514600" y="38404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4 algorithms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trained &amp; compared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663440" y="2834640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349240" y="2907792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0" y="2944368"/>
            <a:ext cx="502920" cy="5029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709160" y="35387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</a:rPr>
              <a:t>Web App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709160" y="38404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Streamlit UI for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real-time prediction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6858000" y="2834640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543800" y="2907792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0" y="2944368"/>
            <a:ext cx="502920" cy="5029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903720" y="35387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</a:rPr>
              <a:t>High Accuracy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6903720" y="38404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LightGBM R²=0.8925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89.25% accuracy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FF7243-7ABA-3E65-D2D2-95874AB42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8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370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 — VS Code Setup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28600" y="1051560"/>
            <a:ext cx="4023360" cy="384048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2004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Project Structure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20040" y="146304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real_estate_valuation/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data/          ← 8 CSV files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src/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├── cleaning.py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├── data loader.py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├── features.py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└── train.py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models/        ← auto-generated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app.py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requirements.txt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README.md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480560" y="1051560"/>
            <a:ext cx="4434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480560" y="1161288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80560" y="1161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83480" y="11064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</a:rPr>
              <a:t>Install Dependencies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983480" y="1362456"/>
            <a:ext cx="3794760" cy="237744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47488" y="13624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480560" y="1801368"/>
            <a:ext cx="4434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480560" y="1911096"/>
            <a:ext cx="411480" cy="41148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80560" y="19110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983480" y="18562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</a:rPr>
              <a:t>Preprocess Data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983480" y="2112264"/>
            <a:ext cx="3794760" cy="237744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47488" y="21122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 --step 1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480560" y="2551176"/>
            <a:ext cx="4434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480560" y="2660904"/>
            <a:ext cx="411480" cy="4114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480560" y="2660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983480" y="26060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</a:rPr>
              <a:t>Run EDA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983480" y="2862072"/>
            <a:ext cx="3794760" cy="237744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47488" y="28620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 --step 2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480560" y="3300984"/>
            <a:ext cx="4434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480560" y="3410712"/>
            <a:ext cx="411480" cy="41148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480560" y="3410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4983480" y="33558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</a:rPr>
              <a:t>Train Models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983480" y="3611880"/>
            <a:ext cx="3794760" cy="237744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047488" y="36118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 --step 3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480560" y="4050792"/>
            <a:ext cx="4434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480560" y="4160520"/>
            <a:ext cx="411480" cy="411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48056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4983480" y="41056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</a:rPr>
              <a:t>Launch Web App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4983480" y="4361688"/>
            <a:ext cx="3794760" cy="237744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047488" y="43616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src/app.py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Datasets Used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74320" y="1097280"/>
            <a:ext cx="4206240" cy="804672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097280"/>
            <a:ext cx="64008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15214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House_Price_India.csv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200" y="15179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</a:rPr>
              <a:t>Primary Training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00400" y="1207008"/>
            <a:ext cx="109728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0" y="12070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14,620 rows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74320" y="2057400"/>
            <a:ext cx="4206240" cy="804672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2057400"/>
            <a:ext cx="64008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11226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house_prices.csv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7200" y="24780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</a:rPr>
              <a:t>Primary Training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200400" y="2167128"/>
            <a:ext cx="109728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00400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21,613 rows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74320" y="3017520"/>
            <a:ext cx="4206240" cy="804672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3017520"/>
            <a:ext cx="64008" cy="8046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307238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Housing.csv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57200" y="34381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7293"/>
                </a:solidFill>
              </a:rPr>
              <a:t>Supplemental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200400" y="3127248"/>
            <a:ext cx="109728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00400" y="31272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21,613 rows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74320" y="3977640"/>
            <a:ext cx="4206240" cy="804672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74320" y="3977640"/>
            <a:ext cx="64008" cy="80467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40325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housing_price_index.csv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57200" y="43982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C842"/>
                </a:solidFill>
              </a:rPr>
              <a:t>India Market Index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200400" y="4087368"/>
            <a:ext cx="109728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00400" y="40873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7 rows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846320" y="1097280"/>
            <a:ext cx="4206240" cy="804672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846320" y="1097280"/>
            <a:ext cx="64008" cy="8046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029200" y="115214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nominal_index.csv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5029200" y="15179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78BFA"/>
                </a:solidFill>
              </a:rPr>
              <a:t>Global Trend (Q)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7772400" y="1207008"/>
            <a:ext cx="109728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772400" y="12070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23,994 rows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846320" y="2057400"/>
            <a:ext cx="4206240" cy="804672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4846320" y="2057400"/>
            <a:ext cx="64008" cy="8046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029200" y="211226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nominal_year.csv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5029200" y="24780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78BFA"/>
                </a:solidFill>
              </a:rPr>
              <a:t>Global Trend (Y)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7772400" y="2167128"/>
            <a:ext cx="109728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772400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23,994 rows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846320" y="3017520"/>
            <a:ext cx="4206240" cy="804672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4846320" y="3017520"/>
            <a:ext cx="64008" cy="80467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029200" y="307238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real_index.csv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5029200" y="34381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B923C"/>
                </a:solidFill>
              </a:rPr>
              <a:t>Real Index (Q)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7772400" y="3127248"/>
            <a:ext cx="109728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772400" y="31272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23,994 rows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4846320" y="3977640"/>
            <a:ext cx="4206240" cy="804672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4846320" y="3977640"/>
            <a:ext cx="64008" cy="80467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029200" y="40325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real_year.csv</a:t>
            </a:r>
            <a:endParaRPr lang="en-US" sz="1050" dirty="0"/>
          </a:p>
        </p:txBody>
      </p:sp>
      <p:sp>
        <p:nvSpPr>
          <p:cNvPr id="50" name="Text 47"/>
          <p:cNvSpPr/>
          <p:nvPr/>
        </p:nvSpPr>
        <p:spPr>
          <a:xfrm>
            <a:off x="5029200" y="43982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B923C"/>
                </a:solidFill>
              </a:rPr>
              <a:t>Real Index (Y)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7772400" y="4087368"/>
            <a:ext cx="109728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772400" y="40873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23,994 rows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 —  41 Features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28600" y="109728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28600" y="1097280"/>
            <a:ext cx="416052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14300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1152144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Core Property Features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" y="1600200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2648" y="16002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</a:rPr>
              <a:t>sqft_living, sqft_lot, sqft_above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" y="1847088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12648" y="18470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</a:rPr>
              <a:t>bedrooms, bathrooms, floors</a:t>
            </a:r>
            <a:endParaRPr lang="en-US" sz="9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" y="2093976"/>
            <a:ext cx="201168" cy="20116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12648" y="20939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</a:rPr>
              <a:t>grade, condition, view, waterfront</a:t>
            </a:r>
            <a:endParaRPr lang="en-US" sz="9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" y="2340864"/>
            <a:ext cx="201168" cy="20116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12648" y="23408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</a:rPr>
              <a:t>yr_built, yr_renovated, zipcode</a:t>
            </a:r>
            <a:endParaRPr lang="en-US" sz="9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" y="2587752"/>
            <a:ext cx="201168" cy="201168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612648" y="25877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</a:rPr>
              <a:t>lat, long (geolocation)</a:t>
            </a:r>
            <a:endParaRPr lang="en-US" sz="950" dirty="0"/>
          </a:p>
        </p:txBody>
      </p:sp>
      <p:sp>
        <p:nvSpPr>
          <p:cNvPr id="19" name="Shape 10"/>
          <p:cNvSpPr/>
          <p:nvPr/>
        </p:nvSpPr>
        <p:spPr>
          <a:xfrm>
            <a:off x="4709160" y="109728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1"/>
          <p:cNvSpPr/>
          <p:nvPr/>
        </p:nvSpPr>
        <p:spPr>
          <a:xfrm>
            <a:off x="4709160" y="1097280"/>
            <a:ext cx="416052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1143000"/>
            <a:ext cx="320040" cy="32004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212080" y="1152144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India-Specific Features</a:t>
            </a:r>
            <a:endParaRPr lang="en-US" sz="11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1600200"/>
            <a:ext cx="201168" cy="201168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093208" y="16002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</a:rPr>
              <a:t>schools_nearby</a:t>
            </a:r>
            <a:endParaRPr lang="en-US" sz="95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1847088"/>
            <a:ext cx="201168" cy="201168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5093208" y="18470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</a:rPr>
              <a:t>airport_distance</a:t>
            </a:r>
            <a:endParaRPr lang="en-US" sz="95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2093976"/>
            <a:ext cx="201168" cy="201168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5093208" y="20939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</a:rPr>
              <a:t>india_price_index</a:t>
            </a:r>
            <a:endParaRPr lang="en-US" sz="950" dirty="0"/>
          </a:p>
        </p:txBody>
      </p:sp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2340864"/>
            <a:ext cx="201168" cy="201168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5093208" y="23408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</a:rPr>
              <a:t>india_trend_slope</a:t>
            </a:r>
            <a:endParaRPr lang="en-US" sz="950" dirty="0"/>
          </a:p>
        </p:txBody>
      </p:sp>
      <p:pic>
        <p:nvPicPr>
          <p:cNvPr id="31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2587752"/>
            <a:ext cx="201168" cy="201168"/>
          </a:xfrm>
          <a:prstGeom prst="rect">
            <a:avLst/>
          </a:prstGeom>
        </p:spPr>
      </p:pic>
      <p:sp>
        <p:nvSpPr>
          <p:cNvPr id="32" name="Text 17"/>
          <p:cNvSpPr/>
          <p:nvPr/>
        </p:nvSpPr>
        <p:spPr>
          <a:xfrm>
            <a:off x="5093208" y="25877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</a:rPr>
              <a:t>is_india_dataset flag</a:t>
            </a:r>
            <a:endParaRPr lang="en-US" sz="950" dirty="0"/>
          </a:p>
        </p:txBody>
      </p:sp>
      <p:sp>
        <p:nvSpPr>
          <p:cNvPr id="33" name="Shape 18"/>
          <p:cNvSpPr/>
          <p:nvPr/>
        </p:nvSpPr>
        <p:spPr>
          <a:xfrm>
            <a:off x="228600" y="306324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19"/>
          <p:cNvSpPr/>
          <p:nvPr/>
        </p:nvSpPr>
        <p:spPr>
          <a:xfrm>
            <a:off x="228600" y="3063240"/>
            <a:ext cx="416052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35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108960"/>
            <a:ext cx="320040" cy="320040"/>
          </a:xfrm>
          <a:prstGeom prst="rect">
            <a:avLst/>
          </a:prstGeom>
        </p:spPr>
      </p:pic>
      <p:sp>
        <p:nvSpPr>
          <p:cNvPr id="36" name="Text 20"/>
          <p:cNvSpPr/>
          <p:nvPr/>
        </p:nvSpPr>
        <p:spPr>
          <a:xfrm>
            <a:off x="731520" y="3118104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Engineered Features</a:t>
            </a:r>
            <a:endParaRPr lang="en-US" sz="1100" dirty="0"/>
          </a:p>
        </p:txBody>
      </p:sp>
      <p:pic>
        <p:nvPicPr>
          <p:cNvPr id="37" name="Image 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" y="3566160"/>
            <a:ext cx="201168" cy="201168"/>
          </a:xfrm>
          <a:prstGeom prst="rect">
            <a:avLst/>
          </a:prstGeom>
        </p:spPr>
      </p:pic>
      <p:sp>
        <p:nvSpPr>
          <p:cNvPr id="38" name="Text 21"/>
          <p:cNvSpPr/>
          <p:nvPr/>
        </p:nvSpPr>
        <p:spPr>
          <a:xfrm>
            <a:off x="612648" y="35661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</a:rPr>
              <a:t>house_age, was_renovated</a:t>
            </a:r>
            <a:endParaRPr lang="en-US" sz="950" dirty="0"/>
          </a:p>
        </p:txBody>
      </p:sp>
      <p:pic>
        <p:nvPicPr>
          <p:cNvPr id="39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" y="3813048"/>
            <a:ext cx="201168" cy="201168"/>
          </a:xfrm>
          <a:prstGeom prst="rect">
            <a:avLst/>
          </a:prstGeom>
        </p:spPr>
      </p:pic>
      <p:sp>
        <p:nvSpPr>
          <p:cNvPr id="40" name="Text 22"/>
          <p:cNvSpPr/>
          <p:nvPr/>
        </p:nvSpPr>
        <p:spPr>
          <a:xfrm>
            <a:off x="612648" y="38130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</a:rPr>
              <a:t>bath_bed_ratio, basement_ratio</a:t>
            </a:r>
            <a:endParaRPr lang="en-US" sz="950" dirty="0"/>
          </a:p>
        </p:txBody>
      </p:sp>
      <p:pic>
        <p:nvPicPr>
          <p:cNvPr id="41" name="Image 1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" y="4059936"/>
            <a:ext cx="201168" cy="201168"/>
          </a:xfrm>
          <a:prstGeom prst="rect">
            <a:avLst/>
          </a:prstGeom>
        </p:spPr>
      </p:pic>
      <p:sp>
        <p:nvSpPr>
          <p:cNvPr id="42" name="Text 23"/>
          <p:cNvSpPr/>
          <p:nvPr/>
        </p:nvSpPr>
        <p:spPr>
          <a:xfrm>
            <a:off x="612648" y="405993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</a:rPr>
              <a:t>area_per_bedroom, area_per_bathroom</a:t>
            </a:r>
            <a:endParaRPr lang="en-US" sz="950" dirty="0"/>
          </a:p>
        </p:txBody>
      </p:sp>
      <p:pic>
        <p:nvPicPr>
          <p:cNvPr id="43" name="Image 1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" y="4306824"/>
            <a:ext cx="201168" cy="201168"/>
          </a:xfrm>
          <a:prstGeom prst="rect">
            <a:avLst/>
          </a:prstGeom>
        </p:spPr>
      </p:pic>
      <p:sp>
        <p:nvSpPr>
          <p:cNvPr id="44" name="Text 24"/>
          <p:cNvSpPr/>
          <p:nvPr/>
        </p:nvSpPr>
        <p:spPr>
          <a:xfrm>
            <a:off x="612648" y="430682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</a:rPr>
              <a:t>grade_condition_score</a:t>
            </a:r>
            <a:endParaRPr lang="en-US" sz="950" dirty="0"/>
          </a:p>
        </p:txBody>
      </p:sp>
      <p:pic>
        <p:nvPicPr>
          <p:cNvPr id="45" name="Image 1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" y="4553712"/>
            <a:ext cx="201168" cy="201168"/>
          </a:xfrm>
          <a:prstGeom prst="rect">
            <a:avLst/>
          </a:prstGeom>
        </p:spPr>
      </p:pic>
      <p:sp>
        <p:nvSpPr>
          <p:cNvPr id="46" name="Text 25"/>
          <p:cNvSpPr/>
          <p:nvPr/>
        </p:nvSpPr>
        <p:spPr>
          <a:xfrm>
            <a:off x="612648" y="45537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</a:rPr>
              <a:t>is_luxury (grade≥10 &amp; sqft≥3000)</a:t>
            </a:r>
            <a:endParaRPr lang="en-US" sz="950" dirty="0"/>
          </a:p>
        </p:txBody>
      </p:sp>
      <p:sp>
        <p:nvSpPr>
          <p:cNvPr id="47" name="Shape 26"/>
          <p:cNvSpPr/>
          <p:nvPr/>
        </p:nvSpPr>
        <p:spPr>
          <a:xfrm>
            <a:off x="4709160" y="306324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27"/>
          <p:cNvSpPr/>
          <p:nvPr/>
        </p:nvSpPr>
        <p:spPr>
          <a:xfrm>
            <a:off x="4709160" y="3063240"/>
            <a:ext cx="4160520" cy="4114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49" name="Image 1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3108960"/>
            <a:ext cx="320040" cy="320040"/>
          </a:xfrm>
          <a:prstGeom prst="rect">
            <a:avLst/>
          </a:prstGeom>
        </p:spPr>
      </p:pic>
      <p:sp>
        <p:nvSpPr>
          <p:cNvPr id="50" name="Text 28"/>
          <p:cNvSpPr/>
          <p:nvPr/>
        </p:nvSpPr>
        <p:spPr>
          <a:xfrm>
            <a:off x="5212080" y="3118104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Market Trend Features</a:t>
            </a:r>
            <a:endParaRPr lang="en-US" sz="1100" dirty="0"/>
          </a:p>
        </p:txBody>
      </p:sp>
      <p:pic>
        <p:nvPicPr>
          <p:cNvPr id="51" name="Image 2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3566160"/>
            <a:ext cx="201168" cy="201168"/>
          </a:xfrm>
          <a:prstGeom prst="rect">
            <a:avLst/>
          </a:prstGeom>
        </p:spPr>
      </p:pic>
      <p:sp>
        <p:nvSpPr>
          <p:cNvPr id="52" name="Text 29"/>
          <p:cNvSpPr/>
          <p:nvPr/>
        </p:nvSpPr>
        <p:spPr>
          <a:xfrm>
            <a:off x="5093208" y="35661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</a:rPr>
              <a:t>global_nominal_avg</a:t>
            </a:r>
            <a:endParaRPr lang="en-US" sz="950" dirty="0"/>
          </a:p>
        </p:txBody>
      </p:sp>
      <p:pic>
        <p:nvPicPr>
          <p:cNvPr id="53" name="Image 2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3813048"/>
            <a:ext cx="201168" cy="201168"/>
          </a:xfrm>
          <a:prstGeom prst="rect">
            <a:avLst/>
          </a:prstGeom>
        </p:spPr>
      </p:pic>
      <p:sp>
        <p:nvSpPr>
          <p:cNvPr id="54" name="Text 30"/>
          <p:cNvSpPr/>
          <p:nvPr/>
        </p:nvSpPr>
        <p:spPr>
          <a:xfrm>
            <a:off x="5093208" y="38130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</a:rPr>
              <a:t>global_real_avg</a:t>
            </a:r>
            <a:endParaRPr lang="en-US" sz="950" dirty="0"/>
          </a:p>
        </p:txBody>
      </p:sp>
      <p:pic>
        <p:nvPicPr>
          <p:cNvPr id="55" name="Image 2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4059936"/>
            <a:ext cx="201168" cy="201168"/>
          </a:xfrm>
          <a:prstGeom prst="rect">
            <a:avLst/>
          </a:prstGeom>
        </p:spPr>
      </p:pic>
      <p:sp>
        <p:nvSpPr>
          <p:cNvPr id="56" name="Text 31"/>
          <p:cNvSpPr/>
          <p:nvPr/>
        </p:nvSpPr>
        <p:spPr>
          <a:xfrm>
            <a:off x="5093208" y="405993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</a:rPr>
              <a:t>global_yoy_change</a:t>
            </a:r>
            <a:endParaRPr lang="en-US" sz="950" dirty="0"/>
          </a:p>
        </p:txBody>
      </p:sp>
      <p:pic>
        <p:nvPicPr>
          <p:cNvPr id="57" name="Image 2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4306824"/>
            <a:ext cx="201168" cy="201168"/>
          </a:xfrm>
          <a:prstGeom prst="rect">
            <a:avLst/>
          </a:prstGeom>
        </p:spPr>
      </p:pic>
      <p:sp>
        <p:nvSpPr>
          <p:cNvPr id="58" name="Text 32"/>
          <p:cNvSpPr/>
          <p:nvPr/>
        </p:nvSpPr>
        <p:spPr>
          <a:xfrm>
            <a:off x="5093208" y="430682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</a:rPr>
              <a:t>living_vs_neighbors</a:t>
            </a:r>
            <a:endParaRPr lang="en-US" sz="950" dirty="0"/>
          </a:p>
        </p:txBody>
      </p:sp>
      <p:pic>
        <p:nvPicPr>
          <p:cNvPr id="59" name="Image 2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4553712"/>
            <a:ext cx="201168" cy="201168"/>
          </a:xfrm>
          <a:prstGeom prst="rect">
            <a:avLst/>
          </a:prstGeom>
        </p:spPr>
      </p:pic>
      <p:sp>
        <p:nvSpPr>
          <p:cNvPr id="60" name="Text 33"/>
          <p:cNvSpPr/>
          <p:nvPr/>
        </p:nvSpPr>
        <p:spPr>
          <a:xfrm>
            <a:off x="5093208" y="45537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</a:rPr>
              <a:t>lot_vs_neighbors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Pipeline  —  4 Steps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82880" y="1097280"/>
            <a:ext cx="2103120" cy="374904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82880" y="1097280"/>
            <a:ext cx="210312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11556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1B2E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49808" y="113385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1B2E"/>
                </a:solidFill>
              </a:rPr>
              <a:t>Data Preprocessing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74320" y="16093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2C39A"/>
                </a:solidFill>
              </a:rPr>
              <a:t>Weeks 1–2</a:t>
            </a:r>
            <a:endParaRPr lang="en-US" sz="9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938528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" y="1938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Load all 8 CSV datasets</a:t>
            </a:r>
            <a:endParaRPr lang="en-US" sz="9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2459736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66928" y="245973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Standardize &amp; merge columns</a:t>
            </a:r>
            <a:endParaRPr lang="en-US" sz="9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2980944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66928" y="298094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Handle missing values &amp; outliers</a:t>
            </a:r>
            <a:endParaRPr lang="en-US" sz="9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3502152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66928" y="350215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Extract macro trend features</a:t>
            </a:r>
            <a:endParaRPr lang="en-US" sz="9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4023360"/>
            <a:ext cx="201168" cy="20116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66928" y="40233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Save processed_dataset.csv</a:t>
            </a:r>
            <a:endParaRPr lang="en-US" sz="900" dirty="0"/>
          </a:p>
        </p:txBody>
      </p:sp>
      <p:sp>
        <p:nvSpPr>
          <p:cNvPr id="20" name="Shape 12"/>
          <p:cNvSpPr/>
          <p:nvPr/>
        </p:nvSpPr>
        <p:spPr>
          <a:xfrm>
            <a:off x="2286000" y="2834640"/>
            <a:ext cx="13716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Shape 13"/>
          <p:cNvSpPr/>
          <p:nvPr/>
        </p:nvSpPr>
        <p:spPr>
          <a:xfrm>
            <a:off x="2423160" y="1097280"/>
            <a:ext cx="2103120" cy="374904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14"/>
          <p:cNvSpPr/>
          <p:nvPr/>
        </p:nvSpPr>
        <p:spPr>
          <a:xfrm>
            <a:off x="2423160" y="1097280"/>
            <a:ext cx="2103120" cy="4572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2514600" y="111556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1B2E"/>
                </a:solidFill>
              </a:rPr>
              <a:t>02</a:t>
            </a:r>
            <a:endParaRPr lang="en-US" sz="2000" dirty="0"/>
          </a:p>
        </p:txBody>
      </p:sp>
      <p:sp>
        <p:nvSpPr>
          <p:cNvPr id="24" name="Text 16"/>
          <p:cNvSpPr/>
          <p:nvPr/>
        </p:nvSpPr>
        <p:spPr>
          <a:xfrm>
            <a:off x="2990088" y="113385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1B2E"/>
                </a:solidFill>
              </a:rPr>
              <a:t>EDA</a:t>
            </a:r>
            <a:endParaRPr lang="en-US" sz="1050" dirty="0"/>
          </a:p>
        </p:txBody>
      </p:sp>
      <p:sp>
        <p:nvSpPr>
          <p:cNvPr id="25" name="Text 17"/>
          <p:cNvSpPr/>
          <p:nvPr/>
        </p:nvSpPr>
        <p:spPr>
          <a:xfrm>
            <a:off x="2514600" y="16093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5C842"/>
                </a:solidFill>
              </a:rPr>
              <a:t>Weeks 1–2</a:t>
            </a:r>
            <a:endParaRPr lang="en-US" sz="9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2888" y="1938528"/>
            <a:ext cx="201168" cy="20116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2807208" y="1938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Price distribution analysis</a:t>
            </a:r>
            <a:endParaRPr lang="en-US" sz="9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2888" y="2459736"/>
            <a:ext cx="201168" cy="20116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2807208" y="245973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Correlation heatmap</a:t>
            </a:r>
            <a:endParaRPr lang="en-US" sz="90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2888" y="2980944"/>
            <a:ext cx="201168" cy="20116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2807208" y="298094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Price by grade &amp; bedrooms</a:t>
            </a:r>
            <a:endParaRPr lang="en-US" sz="900" dirty="0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2888" y="3502152"/>
            <a:ext cx="201168" cy="201168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2807208" y="350215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Outlier detection</a:t>
            </a:r>
            <a:endParaRPr lang="en-US" sz="900" dirty="0"/>
          </a:p>
        </p:txBody>
      </p:sp>
      <p:pic>
        <p:nvPicPr>
          <p:cNvPr id="34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2888" y="4023360"/>
            <a:ext cx="201168" cy="201168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2807208" y="40233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Feature importance insights</a:t>
            </a:r>
            <a:endParaRPr lang="en-US" sz="900" dirty="0"/>
          </a:p>
        </p:txBody>
      </p:sp>
      <p:sp>
        <p:nvSpPr>
          <p:cNvPr id="36" name="Shape 23"/>
          <p:cNvSpPr/>
          <p:nvPr/>
        </p:nvSpPr>
        <p:spPr>
          <a:xfrm>
            <a:off x="4526280" y="2834640"/>
            <a:ext cx="137160" cy="2743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7" name="Shape 24"/>
          <p:cNvSpPr/>
          <p:nvPr/>
        </p:nvSpPr>
        <p:spPr>
          <a:xfrm>
            <a:off x="4663440" y="1097280"/>
            <a:ext cx="2103120" cy="374904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25"/>
          <p:cNvSpPr/>
          <p:nvPr/>
        </p:nvSpPr>
        <p:spPr>
          <a:xfrm>
            <a:off x="4663440" y="1097280"/>
            <a:ext cx="2103120" cy="457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9" name="Text 26"/>
          <p:cNvSpPr/>
          <p:nvPr/>
        </p:nvSpPr>
        <p:spPr>
          <a:xfrm>
            <a:off x="4754880" y="111556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1B2E"/>
                </a:solidFill>
              </a:rPr>
              <a:t>03</a:t>
            </a:r>
            <a:endParaRPr lang="en-US" sz="2000" dirty="0"/>
          </a:p>
        </p:txBody>
      </p:sp>
      <p:sp>
        <p:nvSpPr>
          <p:cNvPr id="40" name="Text 27"/>
          <p:cNvSpPr/>
          <p:nvPr/>
        </p:nvSpPr>
        <p:spPr>
          <a:xfrm>
            <a:off x="5230368" y="113385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1B2E"/>
                </a:solidFill>
              </a:rPr>
              <a:t>Model Training</a:t>
            </a:r>
            <a:endParaRPr lang="en-US" sz="1050" dirty="0"/>
          </a:p>
        </p:txBody>
      </p:sp>
      <p:sp>
        <p:nvSpPr>
          <p:cNvPr id="41" name="Text 28"/>
          <p:cNvSpPr/>
          <p:nvPr/>
        </p:nvSpPr>
        <p:spPr>
          <a:xfrm>
            <a:off x="4754880" y="16093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78BFA"/>
                </a:solidFill>
              </a:rPr>
              <a:t>Weeks 3–4</a:t>
            </a:r>
            <a:endParaRPr lang="en-US" sz="900" dirty="0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1938528"/>
            <a:ext cx="201168" cy="201168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5047488" y="1938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80/20 train-test split</a:t>
            </a:r>
            <a:endParaRPr lang="en-US" sz="900" dirty="0"/>
          </a:p>
        </p:txBody>
      </p:sp>
      <p:pic>
        <p:nvPicPr>
          <p:cNvPr id="44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459736"/>
            <a:ext cx="201168" cy="201168"/>
          </a:xfrm>
          <a:prstGeom prst="rect">
            <a:avLst/>
          </a:prstGeom>
        </p:spPr>
      </p:pic>
      <p:sp>
        <p:nvSpPr>
          <p:cNvPr id="45" name="Text 30"/>
          <p:cNvSpPr/>
          <p:nvPr/>
        </p:nvSpPr>
        <p:spPr>
          <a:xfrm>
            <a:off x="5047488" y="245973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Train 4 ML models</a:t>
            </a:r>
            <a:endParaRPr lang="en-US" sz="900" dirty="0"/>
          </a:p>
        </p:txBody>
      </p:sp>
      <p:pic>
        <p:nvPicPr>
          <p:cNvPr id="46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980944"/>
            <a:ext cx="201168" cy="201168"/>
          </a:xfrm>
          <a:prstGeom prst="rect">
            <a:avLst/>
          </a:prstGeom>
        </p:spPr>
      </p:pic>
      <p:sp>
        <p:nvSpPr>
          <p:cNvPr id="47" name="Text 31"/>
          <p:cNvSpPr/>
          <p:nvPr/>
        </p:nvSpPr>
        <p:spPr>
          <a:xfrm>
            <a:off x="5047488" y="298094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Log-transform target (price)</a:t>
            </a:r>
            <a:endParaRPr lang="en-US" sz="900" dirty="0"/>
          </a:p>
        </p:txBody>
      </p:sp>
      <p:pic>
        <p:nvPicPr>
          <p:cNvPr id="48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3502152"/>
            <a:ext cx="201168" cy="201168"/>
          </a:xfrm>
          <a:prstGeom prst="rect">
            <a:avLst/>
          </a:prstGeom>
        </p:spPr>
      </p:pic>
      <p:sp>
        <p:nvSpPr>
          <p:cNvPr id="49" name="Text 32"/>
          <p:cNvSpPr/>
          <p:nvPr/>
        </p:nvSpPr>
        <p:spPr>
          <a:xfrm>
            <a:off x="5047488" y="350215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Evaluate: R², RMSE, MAE</a:t>
            </a:r>
            <a:endParaRPr lang="en-US" sz="900" dirty="0"/>
          </a:p>
        </p:txBody>
      </p:sp>
      <p:pic>
        <p:nvPicPr>
          <p:cNvPr id="50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023360"/>
            <a:ext cx="201168" cy="201168"/>
          </a:xfrm>
          <a:prstGeom prst="rect">
            <a:avLst/>
          </a:prstGeom>
        </p:spPr>
      </p:pic>
      <p:sp>
        <p:nvSpPr>
          <p:cNvPr id="51" name="Text 33"/>
          <p:cNvSpPr/>
          <p:nvPr/>
        </p:nvSpPr>
        <p:spPr>
          <a:xfrm>
            <a:off x="5047488" y="40233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Save best model (XGBoost)</a:t>
            </a:r>
            <a:endParaRPr lang="en-US" sz="900" dirty="0"/>
          </a:p>
        </p:txBody>
      </p:sp>
      <p:sp>
        <p:nvSpPr>
          <p:cNvPr id="52" name="Shape 34"/>
          <p:cNvSpPr/>
          <p:nvPr/>
        </p:nvSpPr>
        <p:spPr>
          <a:xfrm>
            <a:off x="6766560" y="2834640"/>
            <a:ext cx="137160" cy="274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3" name="Shape 35"/>
          <p:cNvSpPr/>
          <p:nvPr/>
        </p:nvSpPr>
        <p:spPr>
          <a:xfrm>
            <a:off x="6903720" y="1097280"/>
            <a:ext cx="2103120" cy="374904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4" name="Shape 36"/>
          <p:cNvSpPr/>
          <p:nvPr/>
        </p:nvSpPr>
        <p:spPr>
          <a:xfrm>
            <a:off x="6903720" y="1097280"/>
            <a:ext cx="2103120" cy="4572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5" name="Text 37"/>
          <p:cNvSpPr/>
          <p:nvPr/>
        </p:nvSpPr>
        <p:spPr>
          <a:xfrm>
            <a:off x="6995160" y="111556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1B2E"/>
                </a:solidFill>
              </a:rPr>
              <a:t>04</a:t>
            </a:r>
            <a:endParaRPr lang="en-US" sz="2000" dirty="0"/>
          </a:p>
        </p:txBody>
      </p:sp>
      <p:sp>
        <p:nvSpPr>
          <p:cNvPr id="56" name="Text 38"/>
          <p:cNvSpPr/>
          <p:nvPr/>
        </p:nvSpPr>
        <p:spPr>
          <a:xfrm>
            <a:off x="7470648" y="113385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1B2E"/>
                </a:solidFill>
              </a:rPr>
              <a:t>Streamlit Web App</a:t>
            </a:r>
            <a:endParaRPr lang="en-US" sz="1050" dirty="0"/>
          </a:p>
        </p:txBody>
      </p:sp>
      <p:sp>
        <p:nvSpPr>
          <p:cNvPr id="57" name="Text 39"/>
          <p:cNvSpPr/>
          <p:nvPr/>
        </p:nvSpPr>
        <p:spPr>
          <a:xfrm>
            <a:off x="6995160" y="16093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B923C"/>
                </a:solidFill>
              </a:rPr>
              <a:t>Weeks 5–6</a:t>
            </a:r>
            <a:endParaRPr lang="en-US" sz="900" dirty="0"/>
          </a:p>
        </p:txBody>
      </p:sp>
      <p:pic>
        <p:nvPicPr>
          <p:cNvPr id="58" name="Image 1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1938528"/>
            <a:ext cx="201168" cy="201168"/>
          </a:xfrm>
          <a:prstGeom prst="rect">
            <a:avLst/>
          </a:prstGeom>
        </p:spPr>
      </p:pic>
      <p:sp>
        <p:nvSpPr>
          <p:cNvPr id="59" name="Text 40"/>
          <p:cNvSpPr/>
          <p:nvPr/>
        </p:nvSpPr>
        <p:spPr>
          <a:xfrm>
            <a:off x="7287768" y="1938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Price Predictor tab</a:t>
            </a:r>
            <a:endParaRPr lang="en-US" sz="900" dirty="0"/>
          </a:p>
        </p:txBody>
      </p:sp>
      <p:pic>
        <p:nvPicPr>
          <p:cNvPr id="60" name="Image 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2459736"/>
            <a:ext cx="201168" cy="201168"/>
          </a:xfrm>
          <a:prstGeom prst="rect">
            <a:avLst/>
          </a:prstGeom>
        </p:spPr>
      </p:pic>
      <p:sp>
        <p:nvSpPr>
          <p:cNvPr id="61" name="Text 41"/>
          <p:cNvSpPr/>
          <p:nvPr/>
        </p:nvSpPr>
        <p:spPr>
          <a:xfrm>
            <a:off x="7287768" y="245973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Market Analytics dashboard</a:t>
            </a:r>
            <a:endParaRPr lang="en-US" sz="900" dirty="0"/>
          </a:p>
        </p:txBody>
      </p:sp>
      <p:pic>
        <p:nvPicPr>
          <p:cNvPr id="62" name="Image 1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2980944"/>
            <a:ext cx="201168" cy="201168"/>
          </a:xfrm>
          <a:prstGeom prst="rect">
            <a:avLst/>
          </a:prstGeom>
        </p:spPr>
      </p:pic>
      <p:sp>
        <p:nvSpPr>
          <p:cNvPr id="63" name="Text 42"/>
          <p:cNvSpPr/>
          <p:nvPr/>
        </p:nvSpPr>
        <p:spPr>
          <a:xfrm>
            <a:off x="7287768" y="298094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Model Performance charts</a:t>
            </a:r>
            <a:endParaRPr lang="en-US" sz="900" dirty="0"/>
          </a:p>
        </p:txBody>
      </p:sp>
      <p:pic>
        <p:nvPicPr>
          <p:cNvPr id="64" name="Image 1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3502152"/>
            <a:ext cx="201168" cy="201168"/>
          </a:xfrm>
          <a:prstGeom prst="rect">
            <a:avLst/>
          </a:prstGeom>
        </p:spPr>
      </p:pic>
      <p:sp>
        <p:nvSpPr>
          <p:cNvPr id="65" name="Text 43"/>
          <p:cNvSpPr/>
          <p:nvPr/>
        </p:nvSpPr>
        <p:spPr>
          <a:xfrm>
            <a:off x="7287768" y="350215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Dataset Overview tab</a:t>
            </a:r>
            <a:endParaRPr lang="en-US" sz="900" dirty="0"/>
          </a:p>
        </p:txBody>
      </p:sp>
      <p:pic>
        <p:nvPicPr>
          <p:cNvPr id="66" name="Image 2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4023360"/>
            <a:ext cx="201168" cy="201168"/>
          </a:xfrm>
          <a:prstGeom prst="rect">
            <a:avLst/>
          </a:prstGeom>
        </p:spPr>
      </p:pic>
      <p:sp>
        <p:nvSpPr>
          <p:cNvPr id="67" name="Text 44"/>
          <p:cNvSpPr/>
          <p:nvPr/>
        </p:nvSpPr>
        <p:spPr>
          <a:xfrm>
            <a:off x="7287768" y="40233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Run: streamlit run src/app.py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Results</a:t>
            </a:r>
            <a:endParaRPr lang="en-US" sz="2800" dirty="0"/>
          </a:p>
        </p:txBody>
      </p:sp>
      <p:sp>
        <p:nvSpPr>
          <p:cNvPr id="7" name="Shape 2"/>
          <p:cNvSpPr/>
          <p:nvPr/>
        </p:nvSpPr>
        <p:spPr>
          <a:xfrm>
            <a:off x="274320" y="4572000"/>
            <a:ext cx="8595360" cy="45720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617720"/>
            <a:ext cx="347472" cy="347472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22960" y="46177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🏆  Best Model: LightGBM  |  R² = 0.8925  |  Accuracy = 89.25%  |  RMSE = $95,323  |  MAE = $57,552</a:t>
            </a:r>
            <a:endParaRPr lang="en-US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517329-8249-1146-D5A1-093228EF57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4" y="0"/>
            <a:ext cx="9141291" cy="5143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5C87F8C-BE2B-2C91-009C-EFA46E8508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4" y="12699"/>
            <a:ext cx="914129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— Top Feature Importances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6492240" y="1097280"/>
            <a:ext cx="2468880" cy="118872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6492240" y="1097280"/>
            <a:ext cx="64008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675120" y="115214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#1 Driver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675120" y="14630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grade_condition_score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675120" y="17556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Quality × Condition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492240" y="2487168"/>
            <a:ext cx="2468880" cy="118872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92240" y="2487168"/>
            <a:ext cx="64008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675120" y="25420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Area Matters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675120" y="28529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sqft_living / total_area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675120" y="31455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18.5% combined weight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492240" y="3877056"/>
            <a:ext cx="2468880" cy="118872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92240" y="3877056"/>
            <a:ext cx="64008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675120" y="39319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Luxury Flag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675120" y="424281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is_luxury feature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6675120" y="45354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Grade≥10 &amp; Size≥3000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57A6C27-99C9-6A2E-D8C1-0517985537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4" y="4233"/>
            <a:ext cx="914129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Code Snippets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28600" y="1051560"/>
            <a:ext cx="4206240" cy="196596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20040" y="10972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data_preprocessing.py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20040" y="1417320"/>
            <a:ext cx="4023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Merge all 8 datasets</a:t>
            </a:r>
            <a:endParaRPr lang="en-US" sz="950" dirty="0"/>
          </a:p>
          <a:p>
            <a:pPr marL="0" indent="0">
              <a:buNone/>
            </a:pPr>
            <a:r>
              <a:rPr lang="en-US" sz="950" kern="0" spc="2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pd.concat([df_india,</a:t>
            </a:r>
            <a:endParaRPr lang="en-US" sz="950" dirty="0"/>
          </a:p>
          <a:p>
            <a:pPr marL="0" indent="0">
              <a:buNone/>
            </a:pPr>
            <a:r>
              <a:rPr lang="en-US" sz="950" kern="0" spc="2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df_houses, df_housing])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kern="0" spc="2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Feature engineering</a:t>
            </a:r>
            <a:endParaRPr lang="en-US" sz="950" dirty="0"/>
          </a:p>
          <a:p>
            <a:pPr marL="0" indent="0">
              <a:buNone/>
            </a:pPr>
            <a:r>
              <a:rPr lang="en-US" sz="950" kern="0" spc="2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df['house_age'] = sale_yr - yr_built</a:t>
            </a:r>
            <a:endParaRPr lang="en-US" sz="950" dirty="0"/>
          </a:p>
          <a:p>
            <a:pPr marL="0" indent="0">
              <a:buNone/>
            </a:pPr>
            <a:r>
              <a:rPr lang="en-US" sz="950" kern="0" spc="2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df['is_luxury'] = (grade&gt;=10) &amp;</a:t>
            </a:r>
            <a:endParaRPr lang="en-US" sz="950" dirty="0"/>
          </a:p>
          <a:p>
            <a:pPr marL="0" indent="0">
              <a:buNone/>
            </a:pPr>
            <a:r>
              <a:rPr lang="en-US" sz="950" kern="0" spc="2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(sqft_living&gt;=3000)</a:t>
            </a:r>
            <a:endParaRPr lang="en-US" sz="950" dirty="0"/>
          </a:p>
          <a:p>
            <a:pPr marL="0" indent="0">
              <a:buNone/>
            </a:pPr>
            <a:r>
              <a:rPr lang="en-US" sz="950" kern="0" spc="2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df['grade_condition_score'] =</a:t>
            </a:r>
            <a:endParaRPr lang="en-US" sz="950" dirty="0"/>
          </a:p>
          <a:p>
            <a:pPr marL="0" indent="0">
              <a:buNone/>
            </a:pPr>
            <a:r>
              <a:rPr lang="en-US" sz="950" kern="0" spc="2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grade * condition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709160" y="1051560"/>
            <a:ext cx="4206240" cy="196596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00600" y="10972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model_training.py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00600" y="1417320"/>
            <a:ext cx="4023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XGBoost — best accuracy</a:t>
            </a:r>
            <a:endParaRPr lang="en-US" sz="950" dirty="0"/>
          </a:p>
          <a:p>
            <a:pPr marL="0" indent="0">
              <a:buNone/>
            </a:pPr>
            <a:r>
              <a:rPr lang="en-US" sz="950" kern="0" spc="2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xgb.XGBRegressor(</a:t>
            </a:r>
            <a:endParaRPr lang="en-US" sz="950" dirty="0"/>
          </a:p>
          <a:p>
            <a:pPr marL="0" indent="0">
              <a:buNone/>
            </a:pPr>
            <a:r>
              <a:rPr lang="en-US" sz="950" kern="0" spc="2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n_estimators=500,</a:t>
            </a:r>
            <a:endParaRPr lang="en-US" sz="950" dirty="0"/>
          </a:p>
          <a:p>
            <a:pPr marL="0" indent="0">
              <a:buNone/>
            </a:pPr>
            <a:r>
              <a:rPr lang="en-US" sz="950" kern="0" spc="2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max_depth=7,</a:t>
            </a:r>
            <a:endParaRPr lang="en-US" sz="950" dirty="0"/>
          </a:p>
          <a:p>
            <a:pPr marL="0" indent="0">
              <a:buNone/>
            </a:pPr>
            <a:r>
              <a:rPr lang="en-US" sz="950" kern="0" spc="2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learning_rate=0.05,</a:t>
            </a:r>
            <a:endParaRPr lang="en-US" sz="950" dirty="0"/>
          </a:p>
          <a:p>
            <a:pPr marL="0" indent="0">
              <a:buNone/>
            </a:pPr>
            <a:r>
              <a:rPr lang="en-US" sz="950" kern="0" spc="2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subsample=0.8)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kern="0" spc="2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Log-transform price</a:t>
            </a:r>
            <a:endParaRPr lang="en-US" sz="950" dirty="0"/>
          </a:p>
          <a:p>
            <a:pPr marL="0" indent="0">
              <a:buNone/>
            </a:pPr>
            <a:r>
              <a:rPr lang="en-US" sz="950" kern="0" spc="2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np.log1p(df['price'])</a:t>
            </a:r>
            <a:endParaRPr lang="en-US" sz="950" dirty="0"/>
          </a:p>
          <a:p>
            <a:pPr marL="0" indent="0">
              <a:buNone/>
            </a:pPr>
            <a:r>
              <a:rPr lang="en-US" sz="950" kern="0" spc="2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model.fit(X_train, y_train)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28600" y="3246120"/>
            <a:ext cx="8686800" cy="160020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20040" y="3291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src/app.py  —  Streamlit Predictor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20040" y="361188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pred_log = model.predict(X_input)[0]         # predict in log-space</a:t>
            </a:r>
            <a:endParaRPr lang="en-US" sz="1000" dirty="0"/>
          </a:p>
          <a:p>
            <a:pPr marL="0" indent="0">
              <a:buNone/>
            </a:pPr>
            <a:r>
              <a:rPr lang="en-US" sz="1000" kern="0" spc="2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pred_price = np.expm1(pred_log)               # convert back to price</a:t>
            </a:r>
            <a:endParaRPr lang="en-US" sz="1000" dirty="0"/>
          </a:p>
          <a:p>
            <a:pPr marL="0" indent="0">
              <a:buNone/>
            </a:pPr>
            <a:r>
              <a:rPr lang="en-US" sz="1000" kern="0" spc="2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st.markdown(f'Estimated Price: ${pred_price:,.0f}')   # display in UI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Application — 4 Tabs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182880" y="1097280"/>
            <a:ext cx="4206240" cy="173736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82880" y="1097280"/>
            <a:ext cx="420624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1133856"/>
            <a:ext cx="310896" cy="310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8368" y="11521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2E"/>
                </a:solidFill>
              </a:rPr>
              <a:t>Price Predictor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1572768"/>
            <a:ext cx="182880" cy="182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8640" y="15727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Input 20+ property details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1819656"/>
            <a:ext cx="182880" cy="1828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8640" y="18196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Get instant price estimate</a:t>
            </a:r>
            <a:endParaRPr lang="en-US" sz="9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2066544"/>
            <a:ext cx="182880" cy="1828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48640" y="206654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Confidence range ±10%</a:t>
            </a:r>
            <a:endParaRPr lang="en-US" sz="9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2313432"/>
            <a:ext cx="182880" cy="18288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48640" y="23134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Price gauge visualization</a:t>
            </a:r>
            <a:endParaRPr lang="en-US" sz="9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2560320"/>
            <a:ext cx="182880" cy="18288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48640" y="2560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Percentile in market</a:t>
            </a:r>
            <a:endParaRPr lang="en-US" sz="950" dirty="0"/>
          </a:p>
        </p:txBody>
      </p:sp>
      <p:sp>
        <p:nvSpPr>
          <p:cNvPr id="19" name="Shape 10"/>
          <p:cNvSpPr/>
          <p:nvPr/>
        </p:nvSpPr>
        <p:spPr>
          <a:xfrm>
            <a:off x="4754880" y="1097280"/>
            <a:ext cx="4206240" cy="173736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1"/>
          <p:cNvSpPr/>
          <p:nvPr/>
        </p:nvSpPr>
        <p:spPr>
          <a:xfrm>
            <a:off x="4754880" y="1097280"/>
            <a:ext cx="4206240" cy="38404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1133856"/>
            <a:ext cx="310896" cy="310896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230368" y="11521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2E"/>
                </a:solidFill>
              </a:rPr>
              <a:t>Market Analytics</a:t>
            </a:r>
            <a:endParaRPr lang="en-US" sz="12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1572768"/>
            <a:ext cx="182880" cy="18288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120640" y="15727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Price distribution histogram</a:t>
            </a:r>
            <a:endParaRPr lang="en-US" sz="95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1819656"/>
            <a:ext cx="182880" cy="182880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5120640" y="18196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Median price by grade</a:t>
            </a:r>
            <a:endParaRPr lang="en-US" sz="95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2066544"/>
            <a:ext cx="182880" cy="182880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5120640" y="206654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Price vs living area scatter</a:t>
            </a:r>
            <a:endParaRPr lang="en-US" sz="950" dirty="0"/>
          </a:p>
        </p:txBody>
      </p:sp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2313432"/>
            <a:ext cx="182880" cy="182880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5120640" y="23134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Price trend by year</a:t>
            </a:r>
            <a:endParaRPr lang="en-US" sz="950" dirty="0"/>
          </a:p>
        </p:txBody>
      </p:sp>
      <p:pic>
        <p:nvPicPr>
          <p:cNvPr id="31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2560320"/>
            <a:ext cx="182880" cy="182880"/>
          </a:xfrm>
          <a:prstGeom prst="rect">
            <a:avLst/>
          </a:prstGeom>
        </p:spPr>
      </p:pic>
      <p:sp>
        <p:nvSpPr>
          <p:cNvPr id="32" name="Text 17"/>
          <p:cNvSpPr/>
          <p:nvPr/>
        </p:nvSpPr>
        <p:spPr>
          <a:xfrm>
            <a:off x="5120640" y="2560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Feature correlation heatmap</a:t>
            </a:r>
            <a:endParaRPr lang="en-US" sz="950" dirty="0"/>
          </a:p>
        </p:txBody>
      </p:sp>
      <p:sp>
        <p:nvSpPr>
          <p:cNvPr id="33" name="Shape 18"/>
          <p:cNvSpPr/>
          <p:nvPr/>
        </p:nvSpPr>
        <p:spPr>
          <a:xfrm>
            <a:off x="182880" y="3017520"/>
            <a:ext cx="4206240" cy="173736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19"/>
          <p:cNvSpPr/>
          <p:nvPr/>
        </p:nvSpPr>
        <p:spPr>
          <a:xfrm>
            <a:off x="182880" y="3017520"/>
            <a:ext cx="4206240" cy="3840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35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032" y="3054096"/>
            <a:ext cx="310896" cy="310896"/>
          </a:xfrm>
          <a:prstGeom prst="rect">
            <a:avLst/>
          </a:prstGeom>
        </p:spPr>
      </p:pic>
      <p:sp>
        <p:nvSpPr>
          <p:cNvPr id="36" name="Text 20"/>
          <p:cNvSpPr/>
          <p:nvPr/>
        </p:nvSpPr>
        <p:spPr>
          <a:xfrm>
            <a:off x="658368" y="30723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2E"/>
                </a:solidFill>
              </a:rPr>
              <a:t>Model Performance</a:t>
            </a:r>
            <a:endParaRPr lang="en-US" sz="1200" dirty="0"/>
          </a:p>
        </p:txBody>
      </p:sp>
      <p:pic>
        <p:nvPicPr>
          <p:cNvPr id="37" name="Image 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3493008"/>
            <a:ext cx="182880" cy="182880"/>
          </a:xfrm>
          <a:prstGeom prst="rect">
            <a:avLst/>
          </a:prstGeom>
        </p:spPr>
      </p:pic>
      <p:sp>
        <p:nvSpPr>
          <p:cNvPr id="38" name="Text 21"/>
          <p:cNvSpPr/>
          <p:nvPr/>
        </p:nvSpPr>
        <p:spPr>
          <a:xfrm>
            <a:off x="548640" y="349300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4-model comparison table</a:t>
            </a:r>
            <a:endParaRPr lang="en-US" sz="950" dirty="0"/>
          </a:p>
        </p:txBody>
      </p:sp>
      <p:pic>
        <p:nvPicPr>
          <p:cNvPr id="39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3739896"/>
            <a:ext cx="182880" cy="182880"/>
          </a:xfrm>
          <a:prstGeom prst="rect">
            <a:avLst/>
          </a:prstGeom>
        </p:spPr>
      </p:pic>
      <p:sp>
        <p:nvSpPr>
          <p:cNvPr id="40" name="Text 22"/>
          <p:cNvSpPr/>
          <p:nvPr/>
        </p:nvSpPr>
        <p:spPr>
          <a:xfrm>
            <a:off x="548640" y="37398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R² bar chart</a:t>
            </a:r>
            <a:endParaRPr lang="en-US" sz="950" dirty="0"/>
          </a:p>
        </p:txBody>
      </p:sp>
      <p:pic>
        <p:nvPicPr>
          <p:cNvPr id="41" name="Image 1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3986784"/>
            <a:ext cx="182880" cy="182880"/>
          </a:xfrm>
          <a:prstGeom prst="rect">
            <a:avLst/>
          </a:prstGeom>
        </p:spPr>
      </p:pic>
      <p:sp>
        <p:nvSpPr>
          <p:cNvPr id="42" name="Text 23"/>
          <p:cNvSpPr/>
          <p:nvPr/>
        </p:nvSpPr>
        <p:spPr>
          <a:xfrm>
            <a:off x="548640" y="39867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Feature importance chart</a:t>
            </a:r>
            <a:endParaRPr lang="en-US" sz="950" dirty="0"/>
          </a:p>
        </p:txBody>
      </p:sp>
      <p:pic>
        <p:nvPicPr>
          <p:cNvPr id="43" name="Image 1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4233672"/>
            <a:ext cx="182880" cy="182880"/>
          </a:xfrm>
          <a:prstGeom prst="rect">
            <a:avLst/>
          </a:prstGeom>
        </p:spPr>
      </p:pic>
      <p:sp>
        <p:nvSpPr>
          <p:cNvPr id="44" name="Text 24"/>
          <p:cNvSpPr/>
          <p:nvPr/>
        </p:nvSpPr>
        <p:spPr>
          <a:xfrm>
            <a:off x="548640" y="42336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Actual vs predicted scatter</a:t>
            </a:r>
            <a:endParaRPr lang="en-US" sz="950" dirty="0"/>
          </a:p>
        </p:txBody>
      </p:sp>
      <p:pic>
        <p:nvPicPr>
          <p:cNvPr id="45" name="Image 1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4480560"/>
            <a:ext cx="182880" cy="182880"/>
          </a:xfrm>
          <a:prstGeom prst="rect">
            <a:avLst/>
          </a:prstGeom>
        </p:spPr>
      </p:pic>
      <p:sp>
        <p:nvSpPr>
          <p:cNvPr id="46" name="Text 25"/>
          <p:cNvSpPr/>
          <p:nvPr/>
        </p:nvSpPr>
        <p:spPr>
          <a:xfrm>
            <a:off x="548640" y="44805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Training/test metrics</a:t>
            </a:r>
            <a:endParaRPr lang="en-US" sz="950" dirty="0"/>
          </a:p>
        </p:txBody>
      </p:sp>
      <p:sp>
        <p:nvSpPr>
          <p:cNvPr id="47" name="Shape 26"/>
          <p:cNvSpPr/>
          <p:nvPr/>
        </p:nvSpPr>
        <p:spPr>
          <a:xfrm>
            <a:off x="4754880" y="3017520"/>
            <a:ext cx="4206240" cy="173736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27"/>
          <p:cNvSpPr/>
          <p:nvPr/>
        </p:nvSpPr>
        <p:spPr>
          <a:xfrm>
            <a:off x="4754880" y="3017520"/>
            <a:ext cx="4206240" cy="38404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pic>
        <p:nvPicPr>
          <p:cNvPr id="49" name="Image 1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8032" y="3054096"/>
            <a:ext cx="310896" cy="310896"/>
          </a:xfrm>
          <a:prstGeom prst="rect">
            <a:avLst/>
          </a:prstGeom>
        </p:spPr>
      </p:pic>
      <p:sp>
        <p:nvSpPr>
          <p:cNvPr id="50" name="Text 28"/>
          <p:cNvSpPr/>
          <p:nvPr/>
        </p:nvSpPr>
        <p:spPr>
          <a:xfrm>
            <a:off x="5230368" y="30723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2E"/>
                </a:solidFill>
              </a:rPr>
              <a:t>Dataset Overview</a:t>
            </a:r>
            <a:endParaRPr lang="en-US" sz="1200" dirty="0"/>
          </a:p>
        </p:txBody>
      </p:sp>
      <p:pic>
        <p:nvPicPr>
          <p:cNvPr id="51" name="Image 2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3493008"/>
            <a:ext cx="182880" cy="182880"/>
          </a:xfrm>
          <a:prstGeom prst="rect">
            <a:avLst/>
          </a:prstGeom>
        </p:spPr>
      </p:pic>
      <p:sp>
        <p:nvSpPr>
          <p:cNvPr id="52" name="Text 29"/>
          <p:cNvSpPr/>
          <p:nvPr/>
        </p:nvSpPr>
        <p:spPr>
          <a:xfrm>
            <a:off x="5120640" y="349300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8 datasets info table</a:t>
            </a:r>
            <a:endParaRPr lang="en-US" sz="950" dirty="0"/>
          </a:p>
        </p:txBody>
      </p:sp>
      <p:pic>
        <p:nvPicPr>
          <p:cNvPr id="53" name="Image 2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3739896"/>
            <a:ext cx="182880" cy="182880"/>
          </a:xfrm>
          <a:prstGeom prst="rect">
            <a:avLst/>
          </a:prstGeom>
        </p:spPr>
      </p:pic>
      <p:sp>
        <p:nvSpPr>
          <p:cNvPr id="54" name="Text 30"/>
          <p:cNvSpPr/>
          <p:nvPr/>
        </p:nvSpPr>
        <p:spPr>
          <a:xfrm>
            <a:off x="5120640" y="37398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Sample processed data</a:t>
            </a:r>
            <a:endParaRPr lang="en-US" sz="950" dirty="0"/>
          </a:p>
        </p:txBody>
      </p:sp>
      <p:pic>
        <p:nvPicPr>
          <p:cNvPr id="55" name="Image 2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3986784"/>
            <a:ext cx="182880" cy="182880"/>
          </a:xfrm>
          <a:prstGeom prst="rect">
            <a:avLst/>
          </a:prstGeom>
        </p:spPr>
      </p:pic>
      <p:sp>
        <p:nvSpPr>
          <p:cNvPr id="56" name="Text 31"/>
          <p:cNvSpPr/>
          <p:nvPr/>
        </p:nvSpPr>
        <p:spPr>
          <a:xfrm>
            <a:off x="5120640" y="39867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Feature engineering guide</a:t>
            </a:r>
            <a:endParaRPr lang="en-US" sz="950" dirty="0"/>
          </a:p>
        </p:txBody>
      </p:sp>
      <p:pic>
        <p:nvPicPr>
          <p:cNvPr id="57" name="Image 2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4233672"/>
            <a:ext cx="182880" cy="182880"/>
          </a:xfrm>
          <a:prstGeom prst="rect">
            <a:avLst/>
          </a:prstGeom>
        </p:spPr>
      </p:pic>
      <p:sp>
        <p:nvSpPr>
          <p:cNvPr id="58" name="Text 32"/>
          <p:cNvSpPr/>
          <p:nvPr/>
        </p:nvSpPr>
        <p:spPr>
          <a:xfrm>
            <a:off x="5120640" y="42336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Column descriptions</a:t>
            </a:r>
            <a:endParaRPr lang="en-US" sz="950" dirty="0"/>
          </a:p>
        </p:txBody>
      </p:sp>
      <p:pic>
        <p:nvPicPr>
          <p:cNvPr id="59" name="Image 2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4480560"/>
            <a:ext cx="182880" cy="182880"/>
          </a:xfrm>
          <a:prstGeom prst="rect">
            <a:avLst/>
          </a:prstGeom>
        </p:spPr>
      </p:pic>
      <p:sp>
        <p:nvSpPr>
          <p:cNvPr id="60" name="Text 33"/>
          <p:cNvSpPr/>
          <p:nvPr/>
        </p:nvSpPr>
        <p:spPr>
          <a:xfrm>
            <a:off x="5120640" y="44805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22,180 total samples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B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4E5FA5-EEC7-91AC-BB97-E69A43FED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E91988A-E24F-494D-C243-002215EAB401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</p:spPr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F3543A7C-11D8-8B09-6114-97623270E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961A908E-854F-1D65-6892-584EC4EA6DCA}"/>
              </a:ext>
            </a:extLst>
          </p:cNvPr>
          <p:cNvSpPr/>
          <p:nvPr/>
        </p:nvSpPr>
        <p:spPr>
          <a:xfrm>
            <a:off x="100584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Application </a:t>
            </a:r>
            <a:endParaRPr lang="en-US" sz="26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EE5DC15A-008F-2FF4-1BB1-517B2B44FE8C}"/>
              </a:ext>
            </a:extLst>
          </p:cNvPr>
          <p:cNvSpPr/>
          <p:nvPr/>
        </p:nvSpPr>
        <p:spPr>
          <a:xfrm>
            <a:off x="182880" y="1097280"/>
            <a:ext cx="4206240" cy="173736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3066B5A8-0554-B357-7D74-48B289A5B9B5}"/>
              </a:ext>
            </a:extLst>
          </p:cNvPr>
          <p:cNvSpPr/>
          <p:nvPr/>
        </p:nvSpPr>
        <p:spPr>
          <a:xfrm>
            <a:off x="182880" y="1097280"/>
            <a:ext cx="420624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CE6655F4-EEB0-FF17-6D01-017658DC68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1133856"/>
            <a:ext cx="310896" cy="310896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B604D89F-7455-BB2C-26A0-0B831ECE015A}"/>
              </a:ext>
            </a:extLst>
          </p:cNvPr>
          <p:cNvSpPr/>
          <p:nvPr/>
        </p:nvSpPr>
        <p:spPr>
          <a:xfrm>
            <a:off x="658368" y="11521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2E"/>
                </a:solidFill>
              </a:rPr>
              <a:t>Price Predictor</a:t>
            </a:r>
            <a:endParaRPr lang="en-US" sz="1200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8548AD46-69E4-64EC-A777-C1C8274999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1572768"/>
            <a:ext cx="182880" cy="182880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FC535FA0-4AEA-85B0-E210-2F3001886D7E}"/>
              </a:ext>
            </a:extLst>
          </p:cNvPr>
          <p:cNvSpPr/>
          <p:nvPr/>
        </p:nvSpPr>
        <p:spPr>
          <a:xfrm>
            <a:off x="548640" y="15727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Input 20+ property details</a:t>
            </a:r>
            <a:endParaRPr lang="en-US" sz="950" dirty="0"/>
          </a:p>
        </p:txBody>
      </p:sp>
      <p:pic>
        <p:nvPicPr>
          <p:cNvPr id="11" name="Image 3" descr="preencoded.png">
            <a:extLst>
              <a:ext uri="{FF2B5EF4-FFF2-40B4-BE49-F238E27FC236}">
                <a16:creationId xmlns:a16="http://schemas.microsoft.com/office/drawing/2014/main" id="{29E852A6-DBE6-FA31-8B4F-5689685BE7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1819656"/>
            <a:ext cx="182880" cy="182880"/>
          </a:xfrm>
          <a:prstGeom prst="rect">
            <a:avLst/>
          </a:prstGeom>
        </p:spPr>
      </p:pic>
      <p:sp>
        <p:nvSpPr>
          <p:cNvPr id="12" name="Text 6">
            <a:extLst>
              <a:ext uri="{FF2B5EF4-FFF2-40B4-BE49-F238E27FC236}">
                <a16:creationId xmlns:a16="http://schemas.microsoft.com/office/drawing/2014/main" id="{0BDB91D0-EA25-B2F1-1321-20BEB8D4D8B8}"/>
              </a:ext>
            </a:extLst>
          </p:cNvPr>
          <p:cNvSpPr/>
          <p:nvPr/>
        </p:nvSpPr>
        <p:spPr>
          <a:xfrm>
            <a:off x="548640" y="18196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Get instant price estimate</a:t>
            </a:r>
            <a:endParaRPr lang="en-US" sz="950" dirty="0"/>
          </a:p>
        </p:txBody>
      </p:sp>
      <p:pic>
        <p:nvPicPr>
          <p:cNvPr id="13" name="Image 4" descr="preencoded.png">
            <a:extLst>
              <a:ext uri="{FF2B5EF4-FFF2-40B4-BE49-F238E27FC236}">
                <a16:creationId xmlns:a16="http://schemas.microsoft.com/office/drawing/2014/main" id="{CAAC6351-FE06-23E1-3276-9B8079557B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2066544"/>
            <a:ext cx="182880" cy="182880"/>
          </a:xfrm>
          <a:prstGeom prst="rect">
            <a:avLst/>
          </a:prstGeom>
        </p:spPr>
      </p:pic>
      <p:sp>
        <p:nvSpPr>
          <p:cNvPr id="14" name="Text 7">
            <a:extLst>
              <a:ext uri="{FF2B5EF4-FFF2-40B4-BE49-F238E27FC236}">
                <a16:creationId xmlns:a16="http://schemas.microsoft.com/office/drawing/2014/main" id="{5DC8C55B-1F31-E94E-DFA0-35463F8141D0}"/>
              </a:ext>
            </a:extLst>
          </p:cNvPr>
          <p:cNvSpPr/>
          <p:nvPr/>
        </p:nvSpPr>
        <p:spPr>
          <a:xfrm>
            <a:off x="548640" y="206654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Confidence range ±10%</a:t>
            </a:r>
            <a:endParaRPr lang="en-US" sz="950" dirty="0"/>
          </a:p>
        </p:txBody>
      </p:sp>
      <p:pic>
        <p:nvPicPr>
          <p:cNvPr id="15" name="Image 5" descr="preencoded.png">
            <a:extLst>
              <a:ext uri="{FF2B5EF4-FFF2-40B4-BE49-F238E27FC236}">
                <a16:creationId xmlns:a16="http://schemas.microsoft.com/office/drawing/2014/main" id="{4B0024BB-EBF7-431E-BC6E-84CBCBE351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2313432"/>
            <a:ext cx="182880" cy="182880"/>
          </a:xfrm>
          <a:prstGeom prst="rect">
            <a:avLst/>
          </a:prstGeom>
        </p:spPr>
      </p:pic>
      <p:sp>
        <p:nvSpPr>
          <p:cNvPr id="16" name="Text 8">
            <a:extLst>
              <a:ext uri="{FF2B5EF4-FFF2-40B4-BE49-F238E27FC236}">
                <a16:creationId xmlns:a16="http://schemas.microsoft.com/office/drawing/2014/main" id="{11C9FE1B-CDF9-B0E6-C01B-D1EED6B7D806}"/>
              </a:ext>
            </a:extLst>
          </p:cNvPr>
          <p:cNvSpPr/>
          <p:nvPr/>
        </p:nvSpPr>
        <p:spPr>
          <a:xfrm>
            <a:off x="548640" y="23134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Price gauge visualization</a:t>
            </a:r>
            <a:endParaRPr lang="en-US" sz="950" dirty="0"/>
          </a:p>
        </p:txBody>
      </p:sp>
      <p:pic>
        <p:nvPicPr>
          <p:cNvPr id="17" name="Image 6" descr="preencoded.png">
            <a:extLst>
              <a:ext uri="{FF2B5EF4-FFF2-40B4-BE49-F238E27FC236}">
                <a16:creationId xmlns:a16="http://schemas.microsoft.com/office/drawing/2014/main" id="{F4F46F4A-4C6D-12DE-B056-A60ED23171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2560320"/>
            <a:ext cx="182880" cy="182880"/>
          </a:xfrm>
          <a:prstGeom prst="rect">
            <a:avLst/>
          </a:prstGeom>
        </p:spPr>
      </p:pic>
      <p:sp>
        <p:nvSpPr>
          <p:cNvPr id="18" name="Text 9">
            <a:extLst>
              <a:ext uri="{FF2B5EF4-FFF2-40B4-BE49-F238E27FC236}">
                <a16:creationId xmlns:a16="http://schemas.microsoft.com/office/drawing/2014/main" id="{44A7B3D1-34A6-6256-6DDB-F3552D7D4832}"/>
              </a:ext>
            </a:extLst>
          </p:cNvPr>
          <p:cNvSpPr/>
          <p:nvPr/>
        </p:nvSpPr>
        <p:spPr>
          <a:xfrm>
            <a:off x="548640" y="2560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Percentile in market</a:t>
            </a:r>
            <a:endParaRPr lang="en-US" sz="950" dirty="0"/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B6A435E4-20DD-672A-81B5-9DBCE8A19159}"/>
              </a:ext>
            </a:extLst>
          </p:cNvPr>
          <p:cNvSpPr/>
          <p:nvPr/>
        </p:nvSpPr>
        <p:spPr>
          <a:xfrm>
            <a:off x="4754880" y="1097280"/>
            <a:ext cx="4206240" cy="173736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98ED2033-45E5-01DB-D3E1-40B38E4D4446}"/>
              </a:ext>
            </a:extLst>
          </p:cNvPr>
          <p:cNvSpPr/>
          <p:nvPr/>
        </p:nvSpPr>
        <p:spPr>
          <a:xfrm>
            <a:off x="4754880" y="1097280"/>
            <a:ext cx="4206240" cy="38404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pic>
        <p:nvPicPr>
          <p:cNvPr id="21" name="Image 7" descr="preencoded.png">
            <a:extLst>
              <a:ext uri="{FF2B5EF4-FFF2-40B4-BE49-F238E27FC236}">
                <a16:creationId xmlns:a16="http://schemas.microsoft.com/office/drawing/2014/main" id="{DB45348E-6375-E43E-8CC5-1115CB8BEA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1133856"/>
            <a:ext cx="310896" cy="310896"/>
          </a:xfrm>
          <a:prstGeom prst="rect">
            <a:avLst/>
          </a:prstGeom>
        </p:spPr>
      </p:pic>
      <p:sp>
        <p:nvSpPr>
          <p:cNvPr id="22" name="Text 12">
            <a:extLst>
              <a:ext uri="{FF2B5EF4-FFF2-40B4-BE49-F238E27FC236}">
                <a16:creationId xmlns:a16="http://schemas.microsoft.com/office/drawing/2014/main" id="{4E4B1387-3F60-0D09-9FB6-8AD8C7689FED}"/>
              </a:ext>
            </a:extLst>
          </p:cNvPr>
          <p:cNvSpPr/>
          <p:nvPr/>
        </p:nvSpPr>
        <p:spPr>
          <a:xfrm>
            <a:off x="5230368" y="11521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2E"/>
                </a:solidFill>
              </a:rPr>
              <a:t>Market Analytics</a:t>
            </a:r>
            <a:endParaRPr lang="en-US" sz="1200" dirty="0"/>
          </a:p>
        </p:txBody>
      </p:sp>
      <p:pic>
        <p:nvPicPr>
          <p:cNvPr id="23" name="Image 8" descr="preencoded.png">
            <a:extLst>
              <a:ext uri="{FF2B5EF4-FFF2-40B4-BE49-F238E27FC236}">
                <a16:creationId xmlns:a16="http://schemas.microsoft.com/office/drawing/2014/main" id="{746D231C-D0CF-BAE4-8C86-A47B09814E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1572768"/>
            <a:ext cx="182880" cy="182880"/>
          </a:xfrm>
          <a:prstGeom prst="rect">
            <a:avLst/>
          </a:prstGeom>
        </p:spPr>
      </p:pic>
      <p:sp>
        <p:nvSpPr>
          <p:cNvPr id="24" name="Text 13">
            <a:extLst>
              <a:ext uri="{FF2B5EF4-FFF2-40B4-BE49-F238E27FC236}">
                <a16:creationId xmlns:a16="http://schemas.microsoft.com/office/drawing/2014/main" id="{35A422AE-E395-64AE-9302-3F974D0ECE81}"/>
              </a:ext>
            </a:extLst>
          </p:cNvPr>
          <p:cNvSpPr/>
          <p:nvPr/>
        </p:nvSpPr>
        <p:spPr>
          <a:xfrm>
            <a:off x="5120640" y="15727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Price distribution histogram</a:t>
            </a:r>
            <a:endParaRPr lang="en-US" sz="950" dirty="0"/>
          </a:p>
        </p:txBody>
      </p:sp>
      <p:pic>
        <p:nvPicPr>
          <p:cNvPr id="25" name="Image 9" descr="preencoded.png">
            <a:extLst>
              <a:ext uri="{FF2B5EF4-FFF2-40B4-BE49-F238E27FC236}">
                <a16:creationId xmlns:a16="http://schemas.microsoft.com/office/drawing/2014/main" id="{DA1909A2-972C-8D23-EB5F-8A3170765F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1819656"/>
            <a:ext cx="182880" cy="182880"/>
          </a:xfrm>
          <a:prstGeom prst="rect">
            <a:avLst/>
          </a:prstGeom>
        </p:spPr>
      </p:pic>
      <p:sp>
        <p:nvSpPr>
          <p:cNvPr id="26" name="Text 14">
            <a:extLst>
              <a:ext uri="{FF2B5EF4-FFF2-40B4-BE49-F238E27FC236}">
                <a16:creationId xmlns:a16="http://schemas.microsoft.com/office/drawing/2014/main" id="{FF1C27AE-9B71-8D47-DE6F-CFCE0FE67698}"/>
              </a:ext>
            </a:extLst>
          </p:cNvPr>
          <p:cNvSpPr/>
          <p:nvPr/>
        </p:nvSpPr>
        <p:spPr>
          <a:xfrm>
            <a:off x="5120640" y="18196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Median price by grade</a:t>
            </a:r>
            <a:endParaRPr lang="en-US" sz="950" dirty="0"/>
          </a:p>
        </p:txBody>
      </p:sp>
      <p:pic>
        <p:nvPicPr>
          <p:cNvPr id="27" name="Image 10" descr="preencoded.png">
            <a:extLst>
              <a:ext uri="{FF2B5EF4-FFF2-40B4-BE49-F238E27FC236}">
                <a16:creationId xmlns:a16="http://schemas.microsoft.com/office/drawing/2014/main" id="{8BA7AEFA-BA35-D2B1-98AB-EB1AEBB18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2066544"/>
            <a:ext cx="182880" cy="182880"/>
          </a:xfrm>
          <a:prstGeom prst="rect">
            <a:avLst/>
          </a:prstGeom>
        </p:spPr>
      </p:pic>
      <p:sp>
        <p:nvSpPr>
          <p:cNvPr id="28" name="Text 15">
            <a:extLst>
              <a:ext uri="{FF2B5EF4-FFF2-40B4-BE49-F238E27FC236}">
                <a16:creationId xmlns:a16="http://schemas.microsoft.com/office/drawing/2014/main" id="{DB07B69E-FB6C-555B-5FB6-1859A0643B39}"/>
              </a:ext>
            </a:extLst>
          </p:cNvPr>
          <p:cNvSpPr/>
          <p:nvPr/>
        </p:nvSpPr>
        <p:spPr>
          <a:xfrm>
            <a:off x="5120640" y="206654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Price vs living area scatter</a:t>
            </a:r>
            <a:endParaRPr lang="en-US" sz="950" dirty="0"/>
          </a:p>
        </p:txBody>
      </p:sp>
      <p:pic>
        <p:nvPicPr>
          <p:cNvPr id="29" name="Image 11" descr="preencoded.png">
            <a:extLst>
              <a:ext uri="{FF2B5EF4-FFF2-40B4-BE49-F238E27FC236}">
                <a16:creationId xmlns:a16="http://schemas.microsoft.com/office/drawing/2014/main" id="{644C4786-7EAE-E64F-EECF-DF6EC2303F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2313432"/>
            <a:ext cx="182880" cy="182880"/>
          </a:xfrm>
          <a:prstGeom prst="rect">
            <a:avLst/>
          </a:prstGeom>
        </p:spPr>
      </p:pic>
      <p:sp>
        <p:nvSpPr>
          <p:cNvPr id="30" name="Text 16">
            <a:extLst>
              <a:ext uri="{FF2B5EF4-FFF2-40B4-BE49-F238E27FC236}">
                <a16:creationId xmlns:a16="http://schemas.microsoft.com/office/drawing/2014/main" id="{3C7C6227-478F-8611-3D6F-31539C838B5D}"/>
              </a:ext>
            </a:extLst>
          </p:cNvPr>
          <p:cNvSpPr/>
          <p:nvPr/>
        </p:nvSpPr>
        <p:spPr>
          <a:xfrm>
            <a:off x="5120640" y="23134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Price trend by year</a:t>
            </a:r>
            <a:endParaRPr lang="en-US" sz="950" dirty="0"/>
          </a:p>
        </p:txBody>
      </p:sp>
      <p:pic>
        <p:nvPicPr>
          <p:cNvPr id="31" name="Image 12" descr="preencoded.png">
            <a:extLst>
              <a:ext uri="{FF2B5EF4-FFF2-40B4-BE49-F238E27FC236}">
                <a16:creationId xmlns:a16="http://schemas.microsoft.com/office/drawing/2014/main" id="{35755C40-C37E-6E53-EDE4-6DCA141269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2560320"/>
            <a:ext cx="182880" cy="182880"/>
          </a:xfrm>
          <a:prstGeom prst="rect">
            <a:avLst/>
          </a:prstGeom>
        </p:spPr>
      </p:pic>
      <p:sp>
        <p:nvSpPr>
          <p:cNvPr id="32" name="Text 17">
            <a:extLst>
              <a:ext uri="{FF2B5EF4-FFF2-40B4-BE49-F238E27FC236}">
                <a16:creationId xmlns:a16="http://schemas.microsoft.com/office/drawing/2014/main" id="{D852488E-06B7-515A-3E5A-85547B49DA75}"/>
              </a:ext>
            </a:extLst>
          </p:cNvPr>
          <p:cNvSpPr/>
          <p:nvPr/>
        </p:nvSpPr>
        <p:spPr>
          <a:xfrm>
            <a:off x="5120640" y="2560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Feature correlation heatmap</a:t>
            </a:r>
            <a:endParaRPr lang="en-US" sz="950" dirty="0"/>
          </a:p>
        </p:txBody>
      </p:sp>
      <p:sp>
        <p:nvSpPr>
          <p:cNvPr id="33" name="Shape 18">
            <a:extLst>
              <a:ext uri="{FF2B5EF4-FFF2-40B4-BE49-F238E27FC236}">
                <a16:creationId xmlns:a16="http://schemas.microsoft.com/office/drawing/2014/main" id="{FC4F27C3-5ED9-68F7-5859-469EDC581D41}"/>
              </a:ext>
            </a:extLst>
          </p:cNvPr>
          <p:cNvSpPr/>
          <p:nvPr/>
        </p:nvSpPr>
        <p:spPr>
          <a:xfrm>
            <a:off x="182880" y="3017520"/>
            <a:ext cx="4206240" cy="173736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19">
            <a:extLst>
              <a:ext uri="{FF2B5EF4-FFF2-40B4-BE49-F238E27FC236}">
                <a16:creationId xmlns:a16="http://schemas.microsoft.com/office/drawing/2014/main" id="{CE1B702C-6209-BB21-EC73-6E277D62FE49}"/>
              </a:ext>
            </a:extLst>
          </p:cNvPr>
          <p:cNvSpPr/>
          <p:nvPr/>
        </p:nvSpPr>
        <p:spPr>
          <a:xfrm>
            <a:off x="182880" y="3017520"/>
            <a:ext cx="4206240" cy="3840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35" name="Image 13" descr="preencoded.png">
            <a:extLst>
              <a:ext uri="{FF2B5EF4-FFF2-40B4-BE49-F238E27FC236}">
                <a16:creationId xmlns:a16="http://schemas.microsoft.com/office/drawing/2014/main" id="{49B4BC0A-7546-C7A1-BECB-A38C0A1377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032" y="3054096"/>
            <a:ext cx="310896" cy="310896"/>
          </a:xfrm>
          <a:prstGeom prst="rect">
            <a:avLst/>
          </a:prstGeom>
        </p:spPr>
      </p:pic>
      <p:sp>
        <p:nvSpPr>
          <p:cNvPr id="36" name="Text 20">
            <a:extLst>
              <a:ext uri="{FF2B5EF4-FFF2-40B4-BE49-F238E27FC236}">
                <a16:creationId xmlns:a16="http://schemas.microsoft.com/office/drawing/2014/main" id="{D4DAB07E-1626-D101-B895-E78A143D3861}"/>
              </a:ext>
            </a:extLst>
          </p:cNvPr>
          <p:cNvSpPr/>
          <p:nvPr/>
        </p:nvSpPr>
        <p:spPr>
          <a:xfrm>
            <a:off x="658368" y="30723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2E"/>
                </a:solidFill>
              </a:rPr>
              <a:t>Model Performance</a:t>
            </a:r>
            <a:endParaRPr lang="en-US" sz="1200" dirty="0"/>
          </a:p>
        </p:txBody>
      </p:sp>
      <p:pic>
        <p:nvPicPr>
          <p:cNvPr id="37" name="Image 14" descr="preencoded.png">
            <a:extLst>
              <a:ext uri="{FF2B5EF4-FFF2-40B4-BE49-F238E27FC236}">
                <a16:creationId xmlns:a16="http://schemas.microsoft.com/office/drawing/2014/main" id="{B2438360-E0FA-FD3A-00A8-B85FDAAB07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3493008"/>
            <a:ext cx="182880" cy="182880"/>
          </a:xfrm>
          <a:prstGeom prst="rect">
            <a:avLst/>
          </a:prstGeom>
        </p:spPr>
      </p:pic>
      <p:sp>
        <p:nvSpPr>
          <p:cNvPr id="38" name="Text 21">
            <a:extLst>
              <a:ext uri="{FF2B5EF4-FFF2-40B4-BE49-F238E27FC236}">
                <a16:creationId xmlns:a16="http://schemas.microsoft.com/office/drawing/2014/main" id="{3E9CCA1D-E279-2215-984F-AE410352EE63}"/>
              </a:ext>
            </a:extLst>
          </p:cNvPr>
          <p:cNvSpPr/>
          <p:nvPr/>
        </p:nvSpPr>
        <p:spPr>
          <a:xfrm>
            <a:off x="548640" y="349300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4-model comparison table</a:t>
            </a:r>
            <a:endParaRPr lang="en-US" sz="950" dirty="0"/>
          </a:p>
        </p:txBody>
      </p:sp>
      <p:pic>
        <p:nvPicPr>
          <p:cNvPr id="39" name="Image 15" descr="preencoded.png">
            <a:extLst>
              <a:ext uri="{FF2B5EF4-FFF2-40B4-BE49-F238E27FC236}">
                <a16:creationId xmlns:a16="http://schemas.microsoft.com/office/drawing/2014/main" id="{FF034551-7073-A8CF-79CC-019BD16E7F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3739896"/>
            <a:ext cx="182880" cy="182880"/>
          </a:xfrm>
          <a:prstGeom prst="rect">
            <a:avLst/>
          </a:prstGeom>
        </p:spPr>
      </p:pic>
      <p:sp>
        <p:nvSpPr>
          <p:cNvPr id="40" name="Text 22">
            <a:extLst>
              <a:ext uri="{FF2B5EF4-FFF2-40B4-BE49-F238E27FC236}">
                <a16:creationId xmlns:a16="http://schemas.microsoft.com/office/drawing/2014/main" id="{6F148607-91A3-BF6C-3E29-DF74768B1B6F}"/>
              </a:ext>
            </a:extLst>
          </p:cNvPr>
          <p:cNvSpPr/>
          <p:nvPr/>
        </p:nvSpPr>
        <p:spPr>
          <a:xfrm>
            <a:off x="548640" y="37398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R² bar chart</a:t>
            </a:r>
            <a:endParaRPr lang="en-US" sz="950" dirty="0"/>
          </a:p>
        </p:txBody>
      </p:sp>
      <p:pic>
        <p:nvPicPr>
          <p:cNvPr id="41" name="Image 16" descr="preencoded.png">
            <a:extLst>
              <a:ext uri="{FF2B5EF4-FFF2-40B4-BE49-F238E27FC236}">
                <a16:creationId xmlns:a16="http://schemas.microsoft.com/office/drawing/2014/main" id="{E15C446D-6BA4-0668-B096-32C1192569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3986784"/>
            <a:ext cx="182880" cy="182880"/>
          </a:xfrm>
          <a:prstGeom prst="rect">
            <a:avLst/>
          </a:prstGeom>
        </p:spPr>
      </p:pic>
      <p:sp>
        <p:nvSpPr>
          <p:cNvPr id="42" name="Text 23">
            <a:extLst>
              <a:ext uri="{FF2B5EF4-FFF2-40B4-BE49-F238E27FC236}">
                <a16:creationId xmlns:a16="http://schemas.microsoft.com/office/drawing/2014/main" id="{EDFC457C-888F-E827-D282-08F7CBC5167C}"/>
              </a:ext>
            </a:extLst>
          </p:cNvPr>
          <p:cNvSpPr/>
          <p:nvPr/>
        </p:nvSpPr>
        <p:spPr>
          <a:xfrm>
            <a:off x="548640" y="39867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Feature importance chart</a:t>
            </a:r>
            <a:endParaRPr lang="en-US" sz="950" dirty="0"/>
          </a:p>
        </p:txBody>
      </p:sp>
      <p:pic>
        <p:nvPicPr>
          <p:cNvPr id="43" name="Image 17" descr="preencoded.png">
            <a:extLst>
              <a:ext uri="{FF2B5EF4-FFF2-40B4-BE49-F238E27FC236}">
                <a16:creationId xmlns:a16="http://schemas.microsoft.com/office/drawing/2014/main" id="{64D70E24-E55F-71EB-93BC-3BAA15D5B3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4233672"/>
            <a:ext cx="182880" cy="182880"/>
          </a:xfrm>
          <a:prstGeom prst="rect">
            <a:avLst/>
          </a:prstGeom>
        </p:spPr>
      </p:pic>
      <p:sp>
        <p:nvSpPr>
          <p:cNvPr id="44" name="Text 24">
            <a:extLst>
              <a:ext uri="{FF2B5EF4-FFF2-40B4-BE49-F238E27FC236}">
                <a16:creationId xmlns:a16="http://schemas.microsoft.com/office/drawing/2014/main" id="{E9A652DD-4BF3-43A9-19A9-CBF357F2A375}"/>
              </a:ext>
            </a:extLst>
          </p:cNvPr>
          <p:cNvSpPr/>
          <p:nvPr/>
        </p:nvSpPr>
        <p:spPr>
          <a:xfrm>
            <a:off x="548640" y="42336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Actual vs predicted scatter</a:t>
            </a:r>
            <a:endParaRPr lang="en-US" sz="950" dirty="0"/>
          </a:p>
        </p:txBody>
      </p:sp>
      <p:pic>
        <p:nvPicPr>
          <p:cNvPr id="45" name="Image 18" descr="preencoded.png">
            <a:extLst>
              <a:ext uri="{FF2B5EF4-FFF2-40B4-BE49-F238E27FC236}">
                <a16:creationId xmlns:a16="http://schemas.microsoft.com/office/drawing/2014/main" id="{2D860AE5-5896-9F6B-2817-C32141A7F5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4480560"/>
            <a:ext cx="182880" cy="182880"/>
          </a:xfrm>
          <a:prstGeom prst="rect">
            <a:avLst/>
          </a:prstGeom>
        </p:spPr>
      </p:pic>
      <p:sp>
        <p:nvSpPr>
          <p:cNvPr id="46" name="Text 25">
            <a:extLst>
              <a:ext uri="{FF2B5EF4-FFF2-40B4-BE49-F238E27FC236}">
                <a16:creationId xmlns:a16="http://schemas.microsoft.com/office/drawing/2014/main" id="{DC71F914-A296-4AAE-FBAC-3E3893DE4C58}"/>
              </a:ext>
            </a:extLst>
          </p:cNvPr>
          <p:cNvSpPr/>
          <p:nvPr/>
        </p:nvSpPr>
        <p:spPr>
          <a:xfrm>
            <a:off x="548640" y="44805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Training/test metrics</a:t>
            </a:r>
            <a:endParaRPr lang="en-US" sz="950" dirty="0"/>
          </a:p>
        </p:txBody>
      </p:sp>
      <p:sp>
        <p:nvSpPr>
          <p:cNvPr id="47" name="Shape 26">
            <a:extLst>
              <a:ext uri="{FF2B5EF4-FFF2-40B4-BE49-F238E27FC236}">
                <a16:creationId xmlns:a16="http://schemas.microsoft.com/office/drawing/2014/main" id="{05D629C6-F299-376D-F7C0-FA19B0E9A3F6}"/>
              </a:ext>
            </a:extLst>
          </p:cNvPr>
          <p:cNvSpPr/>
          <p:nvPr/>
        </p:nvSpPr>
        <p:spPr>
          <a:xfrm>
            <a:off x="4754880" y="3017520"/>
            <a:ext cx="4206240" cy="173736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27">
            <a:extLst>
              <a:ext uri="{FF2B5EF4-FFF2-40B4-BE49-F238E27FC236}">
                <a16:creationId xmlns:a16="http://schemas.microsoft.com/office/drawing/2014/main" id="{E77B40C4-C7D4-257F-78AF-F43E8F85721F}"/>
              </a:ext>
            </a:extLst>
          </p:cNvPr>
          <p:cNvSpPr/>
          <p:nvPr/>
        </p:nvSpPr>
        <p:spPr>
          <a:xfrm>
            <a:off x="4754880" y="3017520"/>
            <a:ext cx="4206240" cy="38404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pic>
        <p:nvPicPr>
          <p:cNvPr id="49" name="Image 19" descr="preencoded.png">
            <a:extLst>
              <a:ext uri="{FF2B5EF4-FFF2-40B4-BE49-F238E27FC236}">
                <a16:creationId xmlns:a16="http://schemas.microsoft.com/office/drawing/2014/main" id="{EBA01B6A-7CCD-D2A1-A3B3-3EAE12749E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8032" y="3054096"/>
            <a:ext cx="310896" cy="310896"/>
          </a:xfrm>
          <a:prstGeom prst="rect">
            <a:avLst/>
          </a:prstGeom>
        </p:spPr>
      </p:pic>
      <p:sp>
        <p:nvSpPr>
          <p:cNvPr id="50" name="Text 28">
            <a:extLst>
              <a:ext uri="{FF2B5EF4-FFF2-40B4-BE49-F238E27FC236}">
                <a16:creationId xmlns:a16="http://schemas.microsoft.com/office/drawing/2014/main" id="{95AF628C-B10C-4DA2-5903-72F93948026B}"/>
              </a:ext>
            </a:extLst>
          </p:cNvPr>
          <p:cNvSpPr/>
          <p:nvPr/>
        </p:nvSpPr>
        <p:spPr>
          <a:xfrm>
            <a:off x="5230368" y="30723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2E"/>
                </a:solidFill>
              </a:rPr>
              <a:t>Dataset Overview</a:t>
            </a:r>
            <a:endParaRPr lang="en-US" sz="1200" dirty="0"/>
          </a:p>
        </p:txBody>
      </p:sp>
      <p:pic>
        <p:nvPicPr>
          <p:cNvPr id="51" name="Image 20" descr="preencoded.png">
            <a:extLst>
              <a:ext uri="{FF2B5EF4-FFF2-40B4-BE49-F238E27FC236}">
                <a16:creationId xmlns:a16="http://schemas.microsoft.com/office/drawing/2014/main" id="{46A99728-6C70-EF63-AE24-B05DD92E8C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3493008"/>
            <a:ext cx="182880" cy="182880"/>
          </a:xfrm>
          <a:prstGeom prst="rect">
            <a:avLst/>
          </a:prstGeom>
        </p:spPr>
      </p:pic>
      <p:sp>
        <p:nvSpPr>
          <p:cNvPr id="52" name="Text 29">
            <a:extLst>
              <a:ext uri="{FF2B5EF4-FFF2-40B4-BE49-F238E27FC236}">
                <a16:creationId xmlns:a16="http://schemas.microsoft.com/office/drawing/2014/main" id="{64FC6929-87C7-096A-8FF0-DBA6AD3CD3B2}"/>
              </a:ext>
            </a:extLst>
          </p:cNvPr>
          <p:cNvSpPr/>
          <p:nvPr/>
        </p:nvSpPr>
        <p:spPr>
          <a:xfrm>
            <a:off x="5120640" y="349300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8 datasets info table</a:t>
            </a:r>
            <a:endParaRPr lang="en-US" sz="950" dirty="0"/>
          </a:p>
        </p:txBody>
      </p:sp>
      <p:pic>
        <p:nvPicPr>
          <p:cNvPr id="53" name="Image 21" descr="preencoded.png">
            <a:extLst>
              <a:ext uri="{FF2B5EF4-FFF2-40B4-BE49-F238E27FC236}">
                <a16:creationId xmlns:a16="http://schemas.microsoft.com/office/drawing/2014/main" id="{9A6705F4-0F88-B232-C309-A9179D2B50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3739896"/>
            <a:ext cx="182880" cy="182880"/>
          </a:xfrm>
          <a:prstGeom prst="rect">
            <a:avLst/>
          </a:prstGeom>
        </p:spPr>
      </p:pic>
      <p:sp>
        <p:nvSpPr>
          <p:cNvPr id="54" name="Text 30">
            <a:extLst>
              <a:ext uri="{FF2B5EF4-FFF2-40B4-BE49-F238E27FC236}">
                <a16:creationId xmlns:a16="http://schemas.microsoft.com/office/drawing/2014/main" id="{6970E571-46CF-5853-30E8-6B5A9350C349}"/>
              </a:ext>
            </a:extLst>
          </p:cNvPr>
          <p:cNvSpPr/>
          <p:nvPr/>
        </p:nvSpPr>
        <p:spPr>
          <a:xfrm>
            <a:off x="5120640" y="37398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Sample processed data</a:t>
            </a:r>
            <a:endParaRPr lang="en-US" sz="950" dirty="0"/>
          </a:p>
        </p:txBody>
      </p:sp>
      <p:pic>
        <p:nvPicPr>
          <p:cNvPr id="55" name="Image 22" descr="preencoded.png">
            <a:extLst>
              <a:ext uri="{FF2B5EF4-FFF2-40B4-BE49-F238E27FC236}">
                <a16:creationId xmlns:a16="http://schemas.microsoft.com/office/drawing/2014/main" id="{BE0F4463-2B64-84E8-62FF-42222C6204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3986784"/>
            <a:ext cx="182880" cy="182880"/>
          </a:xfrm>
          <a:prstGeom prst="rect">
            <a:avLst/>
          </a:prstGeom>
        </p:spPr>
      </p:pic>
      <p:sp>
        <p:nvSpPr>
          <p:cNvPr id="56" name="Text 31">
            <a:extLst>
              <a:ext uri="{FF2B5EF4-FFF2-40B4-BE49-F238E27FC236}">
                <a16:creationId xmlns:a16="http://schemas.microsoft.com/office/drawing/2014/main" id="{3C5E5023-ED44-122E-0B63-470FCE6C74FA}"/>
              </a:ext>
            </a:extLst>
          </p:cNvPr>
          <p:cNvSpPr/>
          <p:nvPr/>
        </p:nvSpPr>
        <p:spPr>
          <a:xfrm>
            <a:off x="5120640" y="39867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Feature engineering guide</a:t>
            </a:r>
            <a:endParaRPr lang="en-US" sz="950" dirty="0"/>
          </a:p>
        </p:txBody>
      </p:sp>
      <p:pic>
        <p:nvPicPr>
          <p:cNvPr id="57" name="Image 23" descr="preencoded.png">
            <a:extLst>
              <a:ext uri="{FF2B5EF4-FFF2-40B4-BE49-F238E27FC236}">
                <a16:creationId xmlns:a16="http://schemas.microsoft.com/office/drawing/2014/main" id="{9FA4F60E-3B69-E706-CF5B-41CE43F42B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4233672"/>
            <a:ext cx="182880" cy="182880"/>
          </a:xfrm>
          <a:prstGeom prst="rect">
            <a:avLst/>
          </a:prstGeom>
        </p:spPr>
      </p:pic>
      <p:sp>
        <p:nvSpPr>
          <p:cNvPr id="58" name="Text 32">
            <a:extLst>
              <a:ext uri="{FF2B5EF4-FFF2-40B4-BE49-F238E27FC236}">
                <a16:creationId xmlns:a16="http://schemas.microsoft.com/office/drawing/2014/main" id="{12497221-2C59-509B-0528-C9F8E47B681D}"/>
              </a:ext>
            </a:extLst>
          </p:cNvPr>
          <p:cNvSpPr/>
          <p:nvPr/>
        </p:nvSpPr>
        <p:spPr>
          <a:xfrm>
            <a:off x="5120640" y="42336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Column descriptions</a:t>
            </a:r>
            <a:endParaRPr lang="en-US" sz="950" dirty="0"/>
          </a:p>
        </p:txBody>
      </p:sp>
      <p:pic>
        <p:nvPicPr>
          <p:cNvPr id="59" name="Image 24" descr="preencoded.png">
            <a:extLst>
              <a:ext uri="{FF2B5EF4-FFF2-40B4-BE49-F238E27FC236}">
                <a16:creationId xmlns:a16="http://schemas.microsoft.com/office/drawing/2014/main" id="{F153D958-FCCC-7C8C-A4E7-944012B1AA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4480560"/>
            <a:ext cx="182880" cy="182880"/>
          </a:xfrm>
          <a:prstGeom prst="rect">
            <a:avLst/>
          </a:prstGeom>
        </p:spPr>
      </p:pic>
      <p:sp>
        <p:nvSpPr>
          <p:cNvPr id="60" name="Text 33">
            <a:extLst>
              <a:ext uri="{FF2B5EF4-FFF2-40B4-BE49-F238E27FC236}">
                <a16:creationId xmlns:a16="http://schemas.microsoft.com/office/drawing/2014/main" id="{8B3D3F06-4A02-14B3-7FF8-B1BCFA6E3E77}"/>
              </a:ext>
            </a:extLst>
          </p:cNvPr>
          <p:cNvSpPr/>
          <p:nvPr/>
        </p:nvSpPr>
        <p:spPr>
          <a:xfrm>
            <a:off x="5120640" y="44805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22,180 total samples</a:t>
            </a:r>
            <a:endParaRPr lang="en-US" sz="950" dirty="0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54F3C91F-8999-8EDB-14BA-713E64F44B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973836"/>
            <a:ext cx="9144000" cy="4017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9380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Summary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74320" y="1143000"/>
            <a:ext cx="2743200" cy="160020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143000"/>
            <a:ext cx="27432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130759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C39A"/>
                </a:solidFill>
              </a:rPr>
              <a:t>89.25%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365760" y="2011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LightGBM Accuracy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23134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Winner model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46120" y="1143000"/>
            <a:ext cx="2743200" cy="160020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143000"/>
            <a:ext cx="2743200" cy="5486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83280" y="130759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C842"/>
                </a:solidFill>
              </a:rPr>
              <a:t>0.8925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3337560" y="2011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R² Score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337560" y="23134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Excellent fit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217920" y="1143000"/>
            <a:ext cx="2743200" cy="160020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17920" y="1143000"/>
            <a:ext cx="27432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30759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A78BFA"/>
                </a:solidFill>
              </a:rPr>
              <a:t>$95K</a:t>
            </a:r>
            <a:endParaRPr lang="en-US" sz="3400" dirty="0"/>
          </a:p>
        </p:txBody>
      </p:sp>
      <p:sp>
        <p:nvSpPr>
          <p:cNvPr id="18" name="Text 15"/>
          <p:cNvSpPr/>
          <p:nvPr/>
        </p:nvSpPr>
        <p:spPr>
          <a:xfrm>
            <a:off x="6309360" y="2011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RMSE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309360" y="23134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Root Mean Sq Error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74320" y="3017520"/>
            <a:ext cx="2743200" cy="160020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74320" y="3017520"/>
            <a:ext cx="2743200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11480" y="318211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B923C"/>
                </a:solidFill>
              </a:rPr>
              <a:t>14,175</a:t>
            </a:r>
            <a:endParaRPr lang="en-US" sz="3400" dirty="0"/>
          </a:p>
        </p:txBody>
      </p:sp>
      <p:sp>
        <p:nvSpPr>
          <p:cNvPr id="23" name="Text 20"/>
          <p:cNvSpPr/>
          <p:nvPr/>
        </p:nvSpPr>
        <p:spPr>
          <a:xfrm>
            <a:off x="365760" y="38862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Training Samples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65760" y="41879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After outlier removal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246120" y="3017520"/>
            <a:ext cx="2743200" cy="160020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246120" y="3017520"/>
            <a:ext cx="27432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383280" y="318211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C7293"/>
                </a:solidFill>
              </a:rPr>
              <a:t>41</a:t>
            </a:r>
            <a:endParaRPr lang="en-US" sz="3400" dirty="0"/>
          </a:p>
        </p:txBody>
      </p:sp>
      <p:sp>
        <p:nvSpPr>
          <p:cNvPr id="28" name="Text 25"/>
          <p:cNvSpPr/>
          <p:nvPr/>
        </p:nvSpPr>
        <p:spPr>
          <a:xfrm>
            <a:off x="3337560" y="38862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Features Used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337560" y="41879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After engineering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6217920" y="3017520"/>
            <a:ext cx="2743200" cy="160020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217920" y="3017520"/>
            <a:ext cx="274320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55080" y="318211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8</a:t>
            </a:r>
            <a:endParaRPr lang="en-US" sz="3400" dirty="0"/>
          </a:p>
        </p:txBody>
      </p:sp>
      <p:sp>
        <p:nvSpPr>
          <p:cNvPr id="33" name="Text 30"/>
          <p:cNvSpPr/>
          <p:nvPr/>
        </p:nvSpPr>
        <p:spPr>
          <a:xfrm>
            <a:off x="6309360" y="38862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Datasets Merged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309360" y="41879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India + Global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1097280"/>
            <a:ext cx="2286000" cy="2286000"/>
          </a:xfrm>
          <a:prstGeom prst="ellipse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50876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3657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400" dirty="0">
                <a:solidFill>
                  <a:srgbClr val="02C39A"/>
                </a:solidFill>
              </a:rPr>
              <a:t>CONCLUSION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82880" y="4206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</a:rPr>
              <a:t>Veerendra Somineni  |  Real Estate AI   |  2026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840480" y="8229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Real Estate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840480" y="13716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System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840480" y="2011680"/>
            <a:ext cx="493776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✅  LightGBM achieved R² = 0.8925 — best performing model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40480" y="26334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✅  14,175 clean rows after IsoForest outlier removal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840480" y="307238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✅  MAE = $57,552  |  RMSE = $95,323 — superior to manual appraisals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840480" y="351129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✅  41 engineered features across 8 datasets (India + Global)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840480" y="3950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✅  Streamlit UI delivers predictions in under 200ms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840480" y="45720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PropIQ demonstrates that ML-driven valuation can outperform traditional appraisals — faster, cheaper, and more accurate.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1225</Words>
  <Application>Microsoft Office PowerPoint</Application>
  <PresentationFormat>On-screen Show (16:9)</PresentationFormat>
  <Paragraphs>269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Real Estate Valuation System</dc:title>
  <dc:subject>PptxGenJS Presentation</dc:subject>
  <dc:creator>Real Estate AI Team</dc:creator>
  <cp:lastModifiedBy>Kiran Kumar Somineni</cp:lastModifiedBy>
  <cp:revision>4</cp:revision>
  <dcterms:created xsi:type="dcterms:W3CDTF">2026-03-16T04:27:37Z</dcterms:created>
  <dcterms:modified xsi:type="dcterms:W3CDTF">2026-05-29T08:42:15Z</dcterms:modified>
</cp:coreProperties>
</file>